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Sprint 3 — Burndown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 Burndown</c:v>
                </c:pt>
              </c:strCache>
            </c:strRef>
          </c:tx>
          <c:spPr>
            <a:ln w="25400">
              <a:solidFill>
                <a:srgbClr val="00D4FF"/>
              </a:solidFill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  <c:pt idx="4">
                  <c:v>Day 5</c:v>
                </c:pt>
                <c:pt idx="5">
                  <c:v>Day 6</c:v>
                </c:pt>
                <c:pt idx="6">
                  <c:v>Day 7</c:v>
                </c:pt>
                <c:pt idx="7">
                  <c:v>Day 8</c:v>
                </c:pt>
                <c:pt idx="8">
                  <c:v>Day 9</c:v>
                </c:pt>
                <c:pt idx="9">
                  <c:v>Day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</c:v>
                </c:pt>
                <c:pt idx="1">
                  <c:v>44</c:v>
                </c:pt>
                <c:pt idx="2">
                  <c:v>39</c:v>
                </c:pt>
                <c:pt idx="3">
                  <c:v>33</c:v>
                </c:pt>
                <c:pt idx="4">
                  <c:v>28</c:v>
                </c:pt>
                <c:pt idx="5">
                  <c:v>22</c:v>
                </c:pt>
                <c:pt idx="6">
                  <c:v>17</c:v>
                </c:pt>
                <c:pt idx="7">
                  <c:v>11</c:v>
                </c:pt>
                <c:pt idx="8">
                  <c:v>6</c:v>
                </c:pt>
                <c:pt idx="9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Burndown</c:v>
                </c:pt>
              </c:strCache>
            </c:strRef>
          </c:tx>
          <c:spPr>
            <a:ln w="31750">
              <a:solidFill>
                <a:srgbClr val="00E576"/>
              </a:solidFill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  <c:pt idx="4">
                  <c:v>Day 5</c:v>
                </c:pt>
                <c:pt idx="5">
                  <c:v>Day 6</c:v>
                </c:pt>
                <c:pt idx="6">
                  <c:v>Day 7</c:v>
                </c:pt>
                <c:pt idx="7">
                  <c:v>Day 8</c:v>
                </c:pt>
                <c:pt idx="8">
                  <c:v>Day 9</c:v>
                </c:pt>
                <c:pt idx="9">
                  <c:v>Day 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50</c:v>
                </c:pt>
                <c:pt idx="1">
                  <c:v>50</c:v>
                </c:pt>
                <c:pt idx="2">
                  <c:v>42</c:v>
                </c:pt>
                <c:pt idx="3">
                  <c:v>42</c:v>
                </c:pt>
                <c:pt idx="4">
                  <c:v>32</c:v>
                </c:pt>
                <c:pt idx="5">
                  <c:v>28</c:v>
                </c:pt>
                <c:pt idx="6">
                  <c:v>20</c:v>
                </c:pt>
                <c:pt idx="7">
                  <c:v>11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60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0" y="457200"/>
            <a:ext cx="2560320" cy="2560320"/>
          </a:xfrm>
          <a:prstGeom prst="ellipse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1097280"/>
            <a:ext cx="1645920" cy="1645920"/>
          </a:xfrm>
          <a:prstGeom prst="ellipse">
            <a:avLst/>
          </a:prstGeom>
          <a:solidFill>
            <a:srgbClr val="00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4754880"/>
            <a:ext cx="1371600" cy="1371600"/>
          </a:xfrm>
          <a:prstGeom prst="ellipse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AI INTERIOR DESIGNER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C800"/>
                </a:solidFill>
                <a:latin typeface="Calibri"/>
              </a:rPr>
              <a:t>v 2.0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468880"/>
            <a:ext cx="57881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C8E8"/>
                </a:solidFill>
                <a:latin typeface="Calibri"/>
              </a:rPr>
              <a:t>CS 691/692 — Computer Science Capstone Project  |  Spring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A8CB8"/>
                </a:solidFill>
                <a:latin typeface="Calibri"/>
              </a:rPr>
              <a:t>Group 4  •  Sprint 3 Final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A8CB8"/>
                </a:solidFill>
                <a:latin typeface="Calibri"/>
              </a:rPr>
              <a:t>Pace University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5486400"/>
            <a:ext cx="1572768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A0E27"/>
                </a:solidFill>
                <a:latin typeface="Calibri"/>
              </a:rPr>
              <a:t>React 19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22191" y="5486400"/>
            <a:ext cx="1572768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A0E27"/>
                </a:solidFill>
                <a:latin typeface="Calibri"/>
              </a:rPr>
              <a:t>Flask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41264" y="5486400"/>
            <a:ext cx="1572768" cy="347472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A0E27"/>
                </a:solidFill>
                <a:latin typeface="Calibri"/>
              </a:rPr>
              <a:t>ControlNet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0336" y="5486400"/>
            <a:ext cx="1572768" cy="34747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A0E27"/>
                </a:solidFill>
                <a:latin typeface="Calibri"/>
              </a:rPr>
              <a:t>YOLOv8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9408" y="5486400"/>
            <a:ext cx="1572768" cy="34747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A0E27"/>
                </a:solidFill>
                <a:latin typeface="Calibri"/>
              </a:rPr>
              <a:t>SAM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Sprint 3 Presentation — Table of 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4572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80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984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Team Member Roles &amp; Responsibilities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28800"/>
            <a:ext cx="4572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8470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86537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Improvements from Professor Feedback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95728"/>
            <a:ext cx="4572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414015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43230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Project 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962656"/>
            <a:ext cx="4572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98094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9992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Team Working Agreement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529584"/>
            <a:ext cx="4572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5478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566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Personas (×3)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096512"/>
            <a:ext cx="4572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1148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133087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MVP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663440"/>
            <a:ext cx="4572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68172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0001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Technologies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230368"/>
            <a:ext cx="4572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524865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  <a:latin typeface="Calibr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26694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Algorithms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797296"/>
            <a:ext cx="4572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5815583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  <a:latin typeface="Calibri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8338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Architecture Diagrams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261872"/>
            <a:ext cx="457200" cy="4572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1280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  <a:latin typeface="Calibri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12984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Sprint 3 Recap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1828800"/>
            <a:ext cx="457200" cy="4572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18470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  <a:latin typeface="Calibri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186537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Product Backlog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2395728"/>
            <a:ext cx="457200" cy="4572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2414015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  <a:latin typeface="Calibri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243230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Sprint Summary (S1, S2, S3)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2962656"/>
            <a:ext cx="457200" cy="4572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298094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  <a:latin typeface="Calibri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29992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Sprint 4 Backlog + Test Cases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3529584"/>
            <a:ext cx="457200" cy="4572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35478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  <a:latin typeface="Calibri"/>
              </a:rPr>
              <a:t>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3566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Metrics (Velocity, Burndown, C/C Ratio)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4096512"/>
            <a:ext cx="457200" cy="4572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1148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  <a:latin typeface="Calibri"/>
              </a:rPr>
              <a:t>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0" y="4133087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Retrospective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4663440"/>
            <a:ext cx="457200" cy="4572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468172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  <a:latin typeface="Calibri"/>
              </a:rPr>
              <a:t>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470001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Sprint 5 Planning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5230368"/>
            <a:ext cx="457200" cy="4572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524865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  <a:latin typeface="Calibri"/>
              </a:rPr>
              <a:t>17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49440" y="526694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Project Demo — Screenshots &amp; API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5797296"/>
            <a:ext cx="457200" cy="4572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5815583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  <a:latin typeface="Calibri"/>
              </a:rPr>
              <a:t>18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49440" y="58338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GitHub Link &amp; Live Demo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5040" y="1188720"/>
            <a:ext cx="36576" cy="5394960"/>
          </a:xfrm>
          <a:prstGeom prst="rect">
            <a:avLst/>
          </a:prstGeom>
          <a:solidFill>
            <a:srgbClr val="6A8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Team Member Roles &amp;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Group 4 — CS Capstone Spring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743200" cy="5212080"/>
          </a:xfrm>
          <a:prstGeom prst="rect">
            <a:avLst/>
          </a:prstGeom>
          <a:solidFill>
            <a:srgbClr val="121B38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27432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417320"/>
            <a:ext cx="1188720" cy="11887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46304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A0E27"/>
                </a:solidFill>
                <a:latin typeface="Calibri"/>
              </a:rPr>
              <a:t>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743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Nirav Borda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1272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0D4FF"/>
                </a:solidFill>
                <a:latin typeface="Calibri"/>
              </a:rPr>
              <a:t>Full Stack Developer &amp; Team 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93592"/>
            <a:ext cx="22860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94176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C8E8"/>
                </a:solidFill>
                <a:latin typeface="Calibri"/>
              </a:rPr>
              <a:t>Backend Flask API • AI pipeline integration
ControlNet &amp; Colab notebook • Deployment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234440"/>
            <a:ext cx="2743200" cy="5212080"/>
          </a:xfrm>
          <a:prstGeom prst="rect">
            <a:avLst/>
          </a:prstGeom>
          <a:solidFill>
            <a:srgbClr val="121B38"/>
          </a:solidFill>
          <a:ln w="10160">
            <a:solidFill>
              <a:srgbClr val="9B5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1234440"/>
            <a:ext cx="2743200" cy="73152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069080" y="1417320"/>
            <a:ext cx="1188720" cy="1188720"/>
          </a:xfrm>
          <a:prstGeom prst="ellipse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80" y="146304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A0E27"/>
                </a:solidFill>
                <a:latin typeface="Calibri"/>
              </a:rP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743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Member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1272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B5DF5"/>
                </a:solidFill>
                <a:latin typeface="Calibri"/>
              </a:rPr>
              <a:t>Frontend Developer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3593592"/>
            <a:ext cx="2286000" cy="27432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3694176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C8E8"/>
                </a:solidFill>
                <a:latin typeface="Calibri"/>
              </a:rPr>
              <a:t>React 19 components • UI/UX design
Firebase Auth integration • Animations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234440"/>
            <a:ext cx="2743200" cy="5212080"/>
          </a:xfrm>
          <a:prstGeom prst="rect">
            <a:avLst/>
          </a:prstGeom>
          <a:solidFill>
            <a:srgbClr val="121B38"/>
          </a:solidFill>
          <a:ln w="1016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1234440"/>
            <a:ext cx="2743200" cy="7315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40879" y="1417320"/>
            <a:ext cx="1188720" cy="1188720"/>
          </a:xfrm>
          <a:prstGeom prst="ellipse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79" y="146304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A0E27"/>
                </a:solidFill>
                <a:latin typeface="Calibri"/>
              </a:rPr>
              <a:t>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79" y="2743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Member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79" y="31272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0E576"/>
                </a:solidFill>
                <a:latin typeface="Calibri"/>
              </a:rPr>
              <a:t>AI / ML Engineer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593592"/>
            <a:ext cx="2286000" cy="2743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694176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C8E8"/>
                </a:solidFill>
                <a:latin typeface="Calibri"/>
              </a:rPr>
              <a:t>Colab notebook • YOLOv8 &amp; SAM models
Stable Diffusion prompts • Model caching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1234440"/>
            <a:ext cx="2743200" cy="5212080"/>
          </a:xfrm>
          <a:prstGeom prst="rect">
            <a:avLst/>
          </a:prstGeom>
          <a:solidFill>
            <a:srgbClr val="121B38"/>
          </a:solidFill>
          <a:ln w="1016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35440" y="1234440"/>
            <a:ext cx="27432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12680" y="1417320"/>
            <a:ext cx="1188720" cy="11887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12680" y="146304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A0E27"/>
                </a:solidFill>
                <a:latin typeface="Calibri"/>
              </a:rPr>
              <a:t>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2743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Member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31272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6B35"/>
                </a:solidFill>
                <a:latin typeface="Calibri"/>
              </a:rPr>
              <a:t>QA &amp; DevOps Engineer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64040" y="3593592"/>
            <a:ext cx="22860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3694176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C8E8"/>
                </a:solidFill>
                <a:latin typeface="Calibri"/>
              </a:rPr>
              <a:t>Testing &amp; test cases • Vercel deployment
Documentation • Scrum board management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Improvements from Professor Feedback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Deliverable 3 Score: 26/28 → Targeting 28/28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6459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576"/>
                </a:solidFill>
                <a:latin typeface="Calibri"/>
              </a:rPr>
              <a:t>IMPROVED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8512" y="137160"/>
            <a:ext cx="3200400" cy="475488"/>
          </a:xfrm>
          <a:prstGeom prst="rect">
            <a:avLst/>
          </a:prstGeom>
          <a:solidFill>
            <a:srgbClr val="002514"/>
          </a:solidFill>
          <a:ln w="127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6459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576"/>
                </a:solidFill>
                <a:latin typeface="Calibri"/>
              </a:rPr>
              <a:t>IMPROVED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61872"/>
            <a:ext cx="1554480" cy="640080"/>
          </a:xfrm>
          <a:prstGeom prst="rect">
            <a:avLst/>
          </a:prstGeom>
          <a:solidFill>
            <a:srgbClr val="121B38"/>
          </a:solidFill>
          <a:ln w="127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2618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576"/>
                </a:solidFill>
                <a:latin typeface="Calibri"/>
              </a:rPr>
              <a:t>4/4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57276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8E8"/>
                </a:solidFill>
                <a:latin typeface="Calibri"/>
              </a:rPr>
              <a:t>Usability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56816" y="1261872"/>
            <a:ext cx="1554480" cy="640080"/>
          </a:xfrm>
          <a:prstGeom prst="rect">
            <a:avLst/>
          </a:prstGeom>
          <a:solidFill>
            <a:srgbClr val="121B38"/>
          </a:solidFill>
          <a:ln w="127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56816" y="12618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576"/>
                </a:solidFill>
                <a:latin typeface="Calibri"/>
              </a:rPr>
              <a:t>4/4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56816" y="157276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8E8"/>
                </a:solidFill>
                <a:latin typeface="Calibri"/>
              </a:rPr>
              <a:t>Installation &amp; Security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39312" y="1261872"/>
            <a:ext cx="1554480" cy="640080"/>
          </a:xfrm>
          <a:prstGeom prst="rect">
            <a:avLst/>
          </a:prstGeom>
          <a:solidFill>
            <a:srgbClr val="121B38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2" y="12618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B35"/>
                </a:solidFill>
                <a:latin typeface="Calibri"/>
              </a:rPr>
              <a:t>3/4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157276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8E8"/>
                </a:solidFill>
                <a:latin typeface="Calibri"/>
              </a:rPr>
              <a:t>User Stories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21808" y="1261872"/>
            <a:ext cx="1554480" cy="640080"/>
          </a:xfrm>
          <a:prstGeom prst="rect">
            <a:avLst/>
          </a:prstGeom>
          <a:solidFill>
            <a:srgbClr val="121B38"/>
          </a:solidFill>
          <a:ln w="127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21808" y="12618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576"/>
                </a:solidFill>
                <a:latin typeface="Calibri"/>
              </a:rPr>
              <a:t>4/4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8" y="157276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8E8"/>
                </a:solidFill>
                <a:latin typeface="Calibri"/>
              </a:rPr>
              <a:t>Deliverables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04304" y="1261872"/>
            <a:ext cx="1554480" cy="640080"/>
          </a:xfrm>
          <a:prstGeom prst="rect">
            <a:avLst/>
          </a:prstGeom>
          <a:solidFill>
            <a:srgbClr val="121B38"/>
          </a:solidFill>
          <a:ln w="127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04304" y="12618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576"/>
                </a:solidFill>
                <a:latin typeface="Calibri"/>
              </a:rPr>
              <a:t>4/4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4304" y="157276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8E8"/>
                </a:solidFill>
                <a:latin typeface="Calibri"/>
              </a:rPr>
              <a:t>Scrum Board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1261872"/>
            <a:ext cx="1554480" cy="640080"/>
          </a:xfrm>
          <a:prstGeom prst="rect">
            <a:avLst/>
          </a:prstGeom>
          <a:solidFill>
            <a:srgbClr val="121B38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12618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B35"/>
                </a:solidFill>
                <a:latin typeface="Calibri"/>
              </a:rPr>
              <a:t>3/4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157276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8E8"/>
                </a:solidFill>
                <a:latin typeface="Calibri"/>
              </a:rPr>
              <a:t>Repo Org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69296" y="1261872"/>
            <a:ext cx="1554480" cy="640080"/>
          </a:xfrm>
          <a:prstGeom prst="rect">
            <a:avLst/>
          </a:prstGeom>
          <a:solidFill>
            <a:srgbClr val="121B38"/>
          </a:solidFill>
          <a:ln w="127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69296" y="12618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576"/>
                </a:solidFill>
                <a:latin typeface="Calibri"/>
              </a:rPr>
              <a:t>4/4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69296" y="157276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C8E8"/>
                </a:solidFill>
                <a:latin typeface="Calibri"/>
              </a:rPr>
              <a:t>New Criterion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2029968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C800"/>
                </a:solidFill>
                <a:latin typeface="Calibri"/>
              </a:rPr>
              <a:t>Total Score: 26 / 28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578608"/>
            <a:ext cx="5669280" cy="3931920"/>
          </a:xfrm>
          <a:prstGeom prst="rect">
            <a:avLst/>
          </a:prstGeom>
          <a:solidFill>
            <a:srgbClr val="121B38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2578608"/>
            <a:ext cx="566928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697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  <a:latin typeface="Calibri"/>
              </a:rPr>
              <a:t>①  User Stories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200400"/>
            <a:ext cx="2103120" cy="594360"/>
          </a:xfrm>
          <a:prstGeom prst="rect">
            <a:avLst/>
          </a:prstGeom>
          <a:solidFill>
            <a:srgbClr val="081025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2004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4D6D"/>
                </a:solidFill>
                <a:latin typeface="Calibri"/>
              </a:rPr>
              <a:t>3/4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5204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8CB8"/>
                </a:solidFill>
                <a:latin typeface="Calibri"/>
              </a:rPr>
              <a:t>Previous Score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3200400"/>
            <a:ext cx="2103120" cy="594360"/>
          </a:xfrm>
          <a:prstGeom prst="rect">
            <a:avLst/>
          </a:prstGeom>
          <a:solidFill>
            <a:srgbClr val="081025"/>
          </a:solidFill>
          <a:ln w="127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0" y="32004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E576"/>
                </a:solidFill>
                <a:latin typeface="Calibri"/>
              </a:rPr>
              <a:t>4/4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35204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8CB8"/>
                </a:solidFill>
                <a:latin typeface="Calibri"/>
              </a:rPr>
              <a:t>Target Score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950208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Ensured ALL user stories follow the exact template with complete Acceptance Criteria.
Every Sprint 3 feature maps to a user story. No story is missing AC.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080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  <a:latin typeface="Calibri"/>
              </a:rPr>
              <a:t>See Slide 20+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2578608"/>
            <a:ext cx="5669280" cy="3931920"/>
          </a:xfrm>
          <a:prstGeom prst="rect">
            <a:avLst/>
          </a:prstGeom>
          <a:solidFill>
            <a:srgbClr val="121B38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63640" y="2578608"/>
            <a:ext cx="566928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2697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  <a:latin typeface="Calibri"/>
              </a:rPr>
              <a:t>②  Repo Organization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46520" y="3200400"/>
            <a:ext cx="2103120" cy="594360"/>
          </a:xfrm>
          <a:prstGeom prst="rect">
            <a:avLst/>
          </a:prstGeom>
          <a:solidFill>
            <a:srgbClr val="081025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32004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4D6D"/>
                </a:solidFill>
                <a:latin typeface="Calibri"/>
              </a:rPr>
              <a:t>3/4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35204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8CB8"/>
                </a:solidFill>
                <a:latin typeface="Calibri"/>
              </a:rPr>
              <a:t>Previous Score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32520" y="3200400"/>
            <a:ext cx="2103120" cy="594360"/>
          </a:xfrm>
          <a:prstGeom prst="rect">
            <a:avLst/>
          </a:prstGeom>
          <a:solidFill>
            <a:srgbClr val="081025"/>
          </a:solidFill>
          <a:ln w="127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32520" y="32004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E576"/>
                </a:solidFill>
                <a:latin typeface="Calibri"/>
              </a:rPr>
              <a:t>4/4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35204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8CB8"/>
                </a:solidFill>
                <a:latin typeface="Calibri"/>
              </a:rPr>
              <a:t>Target Score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3950208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Code is now logically organized: frontend/src/components/, backend/, notebooks/.
README updated with full directory map. Code follows consistent naming conventions.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6080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  <a:latin typeface="Calibri"/>
              </a:rPr>
              <a:t>See Slide 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Project 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Problem Statement &amp;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11640312" cy="1463040"/>
          </a:xfrm>
          <a:prstGeom prst="rect">
            <a:avLst/>
          </a:prstGeom>
          <a:solidFill>
            <a:srgbClr val="10223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73152" cy="1463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Homeowners, renters, and real estate professionals cannot visualize how different interior design styles would look in their existing spaces before committing to costly renovations or furniture purchases. Professional interior designers cost $2,000–$10,000 per project — unaffordable for most people.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880360"/>
            <a:ext cx="11640312" cy="1508760"/>
          </a:xfrm>
          <a:prstGeom prst="rect">
            <a:avLst/>
          </a:prstGeom>
          <a:solidFill>
            <a:srgbClr val="07201A"/>
          </a:solidFill>
          <a:ln w="127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880360"/>
            <a:ext cx="73152" cy="150876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077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76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18688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AI Interior Designer v2 is a full-stack web application that uses AI-powered image generation to transform any real room photo into a professional interior design visualization — preserving the original room's walls, windows, and layout while applying a completely new design style. No design expertise required.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800"/>
                </a:solidFill>
                <a:latin typeface="Calibri"/>
              </a:rPr>
              <a:t>KEY DIFFERENTIATOR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919472"/>
            <a:ext cx="11612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>
                <a:solidFill>
                  <a:srgbClr val="FFC800"/>
                </a:solidFill>
                <a:latin typeface="Calibri"/>
              </a:rPr>
              <a:t>★  </a:t>
            </a:r>
            <a:r>
              <a:rPr sz="1300" b="0">
                <a:solidFill>
                  <a:srgbClr val="FFC800"/>
                </a:solidFill>
                <a:latin typeface="Calibri"/>
              </a:rPr>
              <a:t>Uses ControlNet to detect and preserve room structure (walls, windows, doors) — only the style changes, not the layout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>
                <a:solidFill>
                  <a:srgbClr val="FFC800"/>
                </a:solidFill>
                <a:latin typeface="Calibri"/>
              </a:rPr>
              <a:t>★  </a:t>
            </a:r>
            <a:r>
              <a:rPr sz="1300" b="0">
                <a:solidFill>
                  <a:srgbClr val="FFC800"/>
                </a:solidFill>
                <a:latin typeface="Calibri"/>
              </a:rPr>
              <a:t>Free to use: leverages Google Colab T4 GPU (no AI API costs). Replicate API as paid fallback.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>
                <a:solidFill>
                  <a:srgbClr val="FFC800"/>
                </a:solidFill>
                <a:latin typeface="Calibri"/>
              </a:rPr>
              <a:t>★  </a:t>
            </a:r>
            <a:r>
              <a:rPr sz="1300" b="0">
                <a:solidFill>
                  <a:srgbClr val="00D4FF"/>
                </a:solidFill>
                <a:latin typeface="Calibri"/>
              </a:rPr>
              <a:t>Live app: https://ai-interior-designer-v2-m4z5.vercel.app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Team Working Agreement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How We Collaborate as a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3749039" cy="2468880"/>
          </a:xfrm>
          <a:prstGeom prst="rect">
            <a:avLst/>
          </a:prstGeom>
          <a:solidFill>
            <a:srgbClr val="121B38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3749039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99031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📅 Meetings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828800"/>
            <a:ext cx="3474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Every Tuesday &amp; Thursday at 6:00 PM via Discord video call. Attendance is mandatory; notify 2 hours ahead if unable to attend.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261872"/>
            <a:ext cx="3749039" cy="2468880"/>
          </a:xfrm>
          <a:prstGeom prst="rect">
            <a:avLst/>
          </a:prstGeom>
          <a:solidFill>
            <a:srgbClr val="121B38"/>
          </a:solidFill>
          <a:ln w="10160">
            <a:solidFill>
              <a:srgbClr val="9B5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261872"/>
            <a:ext cx="3749039" cy="64008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399031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DF5"/>
                </a:solidFill>
                <a:latin typeface="Calibri"/>
              </a:rPr>
              <a:t>⏱ Response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1828800"/>
            <a:ext cx="3474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All team members respond to messages within 24 hours on Discord. Critical issues: respond within 4 hours.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6176" y="1261872"/>
            <a:ext cx="3749039" cy="2468880"/>
          </a:xfrm>
          <a:prstGeom prst="rect">
            <a:avLst/>
          </a:prstGeom>
          <a:solidFill>
            <a:srgbClr val="121B38"/>
          </a:solidFill>
          <a:ln w="1016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66176" y="1261872"/>
            <a:ext cx="3749039" cy="64008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399031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76"/>
                </a:solidFill>
                <a:latin typeface="Calibri"/>
              </a:rPr>
              <a:t>✅ Commitment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1828800"/>
            <a:ext cx="3474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If unable to complete a task by the deadline, notify the team at least 24 hours in advance so tasks can be redistributed.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959352"/>
            <a:ext cx="3749039" cy="2468880"/>
          </a:xfrm>
          <a:prstGeom prst="rect">
            <a:avLst/>
          </a:prstGeom>
          <a:solidFill>
            <a:srgbClr val="121B38"/>
          </a:solidFill>
          <a:ln w="1016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959352"/>
            <a:ext cx="3749039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0965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🔁 Code Reviews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526280"/>
            <a:ext cx="3474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All pull requests must be reviewed and approved by at least one other team member before merging to develop branch.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959352"/>
            <a:ext cx="3749039" cy="2468880"/>
          </a:xfrm>
          <a:prstGeom prst="rect">
            <a:avLst/>
          </a:prstGeom>
          <a:solidFill>
            <a:srgbClr val="121B38"/>
          </a:solidFill>
          <a:ln w="1016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70248" y="3959352"/>
            <a:ext cx="3749039" cy="6400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7408" y="40965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00"/>
                </a:solidFill>
                <a:latin typeface="Calibri"/>
              </a:rPr>
              <a:t>🗳 Decisions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4526280"/>
            <a:ext cx="3474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Feature decisions by majority vote. Architecture changes require full team agreement. Tie-breaker: Team Lead decides.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66176" y="3959352"/>
            <a:ext cx="3749039" cy="2468880"/>
          </a:xfrm>
          <a:prstGeom prst="rect">
            <a:avLst/>
          </a:prstGeom>
          <a:solidFill>
            <a:srgbClr val="121B38"/>
          </a:solidFill>
          <a:ln w="1016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66176" y="3959352"/>
            <a:ext cx="3749039" cy="6400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03336" y="40965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6D"/>
                </a:solidFill>
                <a:latin typeface="Calibri"/>
              </a:rPr>
              <a:t>📊 Work Hours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3336" y="4526280"/>
            <a:ext cx="3474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Each team member commits to a minimum of 10 hours/week on the project during active sprint periods.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Persona — The Homeowner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Understanding Our 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3474720" cy="5440680"/>
          </a:xfrm>
          <a:prstGeom prst="rect">
            <a:avLst/>
          </a:prstGeom>
          <a:solidFill>
            <a:srgbClr val="121B38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347472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1463040"/>
            <a:ext cx="2011680" cy="20116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08760"/>
            <a:ext cx="2011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0A0E27"/>
                </a:solidFill>
                <a:latin typeface="Calibri"/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66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Sarah Chen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0050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FF"/>
                </a:solidFill>
                <a:latin typeface="Calibri"/>
              </a:rPr>
              <a:t>Marketing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4805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8CB8"/>
                </a:solidFill>
                <a:latin typeface="Calibri"/>
              </a:rPr>
              <a:t>Age: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892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8CB8"/>
                </a:solidFill>
                <a:latin typeface="Calibri"/>
              </a:rPr>
              <a:t>Tech Level: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3035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8CB8"/>
                </a:solidFill>
                <a:latin typeface="Calibri"/>
              </a:rPr>
              <a:t>Frequency: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Monthly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1261872"/>
            <a:ext cx="7982712" cy="1719072"/>
          </a:xfrm>
          <a:prstGeom prst="rect">
            <a:avLst/>
          </a:prstGeom>
          <a:solidFill>
            <a:srgbClr val="0E1830"/>
          </a:solidFill>
          <a:ln w="889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31920" y="1261872"/>
            <a:ext cx="64008" cy="17190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33087" y="1353312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🎯  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3087" y="1719072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8E8"/>
                </a:solidFill>
                <a:latin typeface="Calibri"/>
              </a:rPr>
              <a:t>• Redecorate living room without hiring an expensive interior designer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3072384"/>
            <a:ext cx="7982712" cy="1719072"/>
          </a:xfrm>
          <a:prstGeom prst="rect">
            <a:avLst/>
          </a:prstGeom>
          <a:solidFill>
            <a:srgbClr val="0E1830"/>
          </a:solidFill>
          <a:ln w="889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31920" y="3072384"/>
            <a:ext cx="64008" cy="171907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33087" y="3163824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6D"/>
                </a:solidFill>
                <a:latin typeface="Calibri"/>
              </a:rPr>
              <a:t>😣  PAIN POINTS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33087" y="3529584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8E8"/>
                </a:solidFill>
                <a:latin typeface="Calibri"/>
              </a:rPr>
              <a:t>• Professional designers cost $2,000–$10,000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33087" y="393192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8E8"/>
                </a:solidFill>
                <a:latin typeface="Calibri"/>
              </a:rPr>
              <a:t>• Afraid to buy wrong furniture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3087" y="4334256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8E8"/>
                </a:solidFill>
                <a:latin typeface="Calibri"/>
              </a:rPr>
              <a:t>• No design background or expertise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4882896"/>
            <a:ext cx="7982712" cy="1719072"/>
          </a:xfrm>
          <a:prstGeom prst="rect">
            <a:avLst/>
          </a:prstGeom>
          <a:solidFill>
            <a:srgbClr val="0E1830"/>
          </a:solidFill>
          <a:ln w="889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31920" y="4882896"/>
            <a:ext cx="64008" cy="171907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33087" y="4974336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76"/>
                </a:solidFill>
                <a:latin typeface="Calibri"/>
              </a:rPr>
              <a:t>📱  HOW THEY USE THE APP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3087" y="5340096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8E8"/>
                </a:solidFill>
                <a:latin typeface="Calibri"/>
              </a:rPr>
              <a:t>• Uploads her living room photo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33087" y="5742432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8E8"/>
                </a:solidFill>
                <a:latin typeface="Calibri"/>
              </a:rPr>
              <a:t>• Previews all 8 styles at once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33087" y="6144768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8E8"/>
                </a:solidFill>
                <a:latin typeface="Calibri"/>
              </a:rPr>
              <a:t>• Picks Scandinavian style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3087" y="6547104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8E8"/>
                </a:solidFill>
                <a:latin typeface="Calibri"/>
              </a:rPr>
              <a:t>• Edits sofa color via object editor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33087" y="694944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8E8"/>
                </a:solidFill>
                <a:latin typeface="Calibri"/>
              </a:rPr>
              <a:t>• Downloads result to share with spouse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Persona — The Real Estate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Understanding Our 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3474720" cy="5440680"/>
          </a:xfrm>
          <a:prstGeom prst="rect">
            <a:avLst/>
          </a:prstGeom>
          <a:solidFill>
            <a:srgbClr val="121B38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347472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1463040"/>
            <a:ext cx="2011680" cy="20116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08760"/>
            <a:ext cx="2011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0A0E27"/>
                </a:solidFill>
                <a:latin typeface="Calibri"/>
              </a:rPr>
              <a:t>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66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Marcus Davis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0050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6B35"/>
                </a:solidFill>
                <a:latin typeface="Calibri"/>
              </a:rPr>
              <a:t>Licensed Real Estate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4805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8CB8"/>
                </a:solidFill>
                <a:latin typeface="Calibri"/>
              </a:rPr>
              <a:t>Age: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892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8CB8"/>
                </a:solidFill>
                <a:latin typeface="Calibri"/>
              </a:rPr>
              <a:t>Tech Level: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Low-Medium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3035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8CB8"/>
                </a:solidFill>
                <a:latin typeface="Calibri"/>
              </a:rPr>
              <a:t>Frequency: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Weekly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1261872"/>
            <a:ext cx="7982712" cy="1719072"/>
          </a:xfrm>
          <a:prstGeom prst="rect">
            <a:avLst/>
          </a:prstGeom>
          <a:solidFill>
            <a:srgbClr val="0E1830"/>
          </a:solidFill>
          <a:ln w="889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31920" y="1261872"/>
            <a:ext cx="64008" cy="17190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33087" y="1353312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alibri"/>
              </a:rPr>
              <a:t>🎯  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3087" y="1719072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8E8"/>
                </a:solidFill>
                <a:latin typeface="Calibri"/>
              </a:rPr>
              <a:t>• Stage properties with dated/empty interiors to sell faster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3072384"/>
            <a:ext cx="7982712" cy="1719072"/>
          </a:xfrm>
          <a:prstGeom prst="rect">
            <a:avLst/>
          </a:prstGeom>
          <a:solidFill>
            <a:srgbClr val="0E1830"/>
          </a:solidFill>
          <a:ln w="889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31920" y="3072384"/>
            <a:ext cx="64008" cy="171907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33087" y="3163824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6D"/>
                </a:solidFill>
                <a:latin typeface="Calibri"/>
              </a:rPr>
              <a:t>😣  PAIN POINTS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33087" y="3529584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8E8"/>
                </a:solidFill>
                <a:latin typeface="Calibri"/>
              </a:rPr>
              <a:t>• Physical staging costs $1,500–$5,000 per property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33087" y="393192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8E8"/>
                </a:solidFill>
                <a:latin typeface="Calibri"/>
              </a:rPr>
              <a:t>• Buyers can't visualize potential in empty rooms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3087" y="4334256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8E8"/>
                </a:solidFill>
                <a:latin typeface="Calibri"/>
              </a:rPr>
              <a:t>• Listings with poor visuals get fewer clicks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4882896"/>
            <a:ext cx="7982712" cy="1719072"/>
          </a:xfrm>
          <a:prstGeom prst="rect">
            <a:avLst/>
          </a:prstGeom>
          <a:solidFill>
            <a:srgbClr val="0E1830"/>
          </a:solidFill>
          <a:ln w="889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31920" y="4882896"/>
            <a:ext cx="64008" cy="171907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33087" y="4974336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76"/>
                </a:solidFill>
                <a:latin typeface="Calibri"/>
              </a:rPr>
              <a:t>📱  HOW THEY USE THE APP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3087" y="5340096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8E8"/>
                </a:solidFill>
                <a:latin typeface="Calibri"/>
              </a:rPr>
              <a:t>• Photographs empty listing rooms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33087" y="5742432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8E8"/>
                </a:solidFill>
                <a:latin typeface="Calibri"/>
              </a:rPr>
              <a:t>• Generates Modern Luxury &amp; Minimalist versions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33087" y="6144768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8E8"/>
                </a:solidFill>
                <a:latin typeface="Calibri"/>
              </a:rPr>
              <a:t>• Uses compare slider for before/after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3087" y="6547104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8E8"/>
                </a:solidFill>
                <a:latin typeface="Calibri"/>
              </a:rPr>
              <a:t>• Attaches watermarked outputs to MLS listing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Persona — The Design 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Understanding Our 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3474720" cy="5440680"/>
          </a:xfrm>
          <a:prstGeom prst="rect">
            <a:avLst/>
          </a:prstGeom>
          <a:solidFill>
            <a:srgbClr val="121B38"/>
          </a:solidFill>
          <a:ln w="127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3474720" cy="64008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1463040"/>
            <a:ext cx="2011680" cy="2011680"/>
          </a:xfrm>
          <a:prstGeom prst="ellipse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08760"/>
            <a:ext cx="2011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0A0E27"/>
                </a:solidFill>
                <a:latin typeface="Calibri"/>
              </a:rP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66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Priya Sharma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0050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E576"/>
                </a:solidFill>
                <a:latin typeface="Calibri"/>
              </a:rPr>
              <a:t>Interior Design Student (Junior)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4805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8CB8"/>
                </a:solidFill>
                <a:latin typeface="Calibri"/>
              </a:rPr>
              <a:t>Age: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892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8CB8"/>
                </a:solidFill>
                <a:latin typeface="Calibri"/>
              </a:rPr>
              <a:t>Tech Level: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3035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8CB8"/>
                </a:solidFill>
                <a:latin typeface="Calibri"/>
              </a:rPr>
              <a:t>Frequency: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Weekly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1261872"/>
            <a:ext cx="7982712" cy="1719072"/>
          </a:xfrm>
          <a:prstGeom prst="rect">
            <a:avLst/>
          </a:prstGeom>
          <a:solidFill>
            <a:srgbClr val="0E1830"/>
          </a:solidFill>
          <a:ln w="889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31920" y="1261872"/>
            <a:ext cx="64008" cy="171907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33087" y="1353312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76"/>
                </a:solidFill>
                <a:latin typeface="Calibri"/>
              </a:rPr>
              <a:t>🎯  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3087" y="1719072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8E8"/>
                </a:solidFill>
                <a:latin typeface="Calibri"/>
              </a:rPr>
              <a:t>• Experiment with diverse design styles for class projects &amp; portfolio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3072384"/>
            <a:ext cx="7982712" cy="1719072"/>
          </a:xfrm>
          <a:prstGeom prst="rect">
            <a:avLst/>
          </a:prstGeom>
          <a:solidFill>
            <a:srgbClr val="0E1830"/>
          </a:solidFill>
          <a:ln w="889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31920" y="3072384"/>
            <a:ext cx="64008" cy="171907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33087" y="3163824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6D"/>
                </a:solidFill>
                <a:latin typeface="Calibri"/>
              </a:rPr>
              <a:t>😣  PAIN POINTS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33087" y="3529584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8E8"/>
                </a:solidFill>
                <a:latin typeface="Calibri"/>
              </a:rPr>
              <a:t>• No access to real rooms to redesign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33087" y="393192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8E8"/>
                </a:solidFill>
                <a:latin typeface="Calibri"/>
              </a:rPr>
              <a:t>• Rendering software takes hours to learn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3087" y="4334256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8E8"/>
                </a:solidFill>
                <a:latin typeface="Calibri"/>
              </a:rPr>
              <a:t>• Needs quick visuals for client presentations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4882896"/>
            <a:ext cx="7982712" cy="1719072"/>
          </a:xfrm>
          <a:prstGeom prst="rect">
            <a:avLst/>
          </a:prstGeom>
          <a:solidFill>
            <a:srgbClr val="0E1830"/>
          </a:solidFill>
          <a:ln w="889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31920" y="4882896"/>
            <a:ext cx="64008" cy="171907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33087" y="4974336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76"/>
                </a:solidFill>
                <a:latin typeface="Calibri"/>
              </a:rPr>
              <a:t>📱  HOW THEY USE THE APP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3087" y="5340096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8E8"/>
                </a:solidFill>
                <a:latin typeface="Calibri"/>
              </a:rPr>
              <a:t>• Uploads reference room photos from assignments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33087" y="5742432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8E8"/>
                </a:solidFill>
                <a:latin typeface="Calibri"/>
              </a:rPr>
              <a:t>• Tests all 8 styles + custom prompts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33087" y="6144768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8E8"/>
                </a:solidFill>
                <a:latin typeface="Calibri"/>
              </a:rPr>
              <a:t>• Uses StyleComparison for 3-panel 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3087" y="6547104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8E8"/>
                </a:solidFill>
                <a:latin typeface="Calibri"/>
              </a:rPr>
              <a:t>• Exports for portfolio presentations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MVP — Minimum Viable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The smallest version of the app that delivers real value to 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11640312" cy="640080"/>
          </a:xfrm>
          <a:prstGeom prst="rect">
            <a:avLst/>
          </a:prstGeom>
          <a:solidFill>
            <a:srgbClr val="07201A"/>
          </a:solidFill>
          <a:ln w="1016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76"/>
                </a:solidFill>
                <a:latin typeface="Calibri"/>
              </a:rPr>
              <a:t>✔  All 6 MVP features have been working since Sprint 1 and remain stable through Sprint 3.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84831"/>
            <a:ext cx="3749039" cy="2057400"/>
          </a:xfrm>
          <a:prstGeom prst="rect">
            <a:avLst/>
          </a:prstGeom>
          <a:solidFill>
            <a:srgbClr val="121B38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84831"/>
            <a:ext cx="594360" cy="2057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084831"/>
            <a:ext cx="5943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A0E27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21991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User Registration &amp;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06624"/>
            <a:ext cx="2880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Email/password + Google OAuth via Firebase Auth. Secure session management.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2084831"/>
            <a:ext cx="3749039" cy="2057400"/>
          </a:xfrm>
          <a:prstGeom prst="rect">
            <a:avLst/>
          </a:prstGeom>
          <a:solidFill>
            <a:srgbClr val="121B38"/>
          </a:solidFill>
          <a:ln w="10160">
            <a:solidFill>
              <a:srgbClr val="9B5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2084831"/>
            <a:ext cx="594360" cy="2057400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8" y="2084831"/>
            <a:ext cx="5943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A0E27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2221991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Room Photo Upload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8" y="2706624"/>
            <a:ext cx="2880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Drag-and-drop or file picker. Preview before processing. Supports JPG, PNG.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66176" y="2084831"/>
            <a:ext cx="3749039" cy="2057400"/>
          </a:xfrm>
          <a:prstGeom prst="rect">
            <a:avLst/>
          </a:prstGeom>
          <a:solidFill>
            <a:srgbClr val="121B38"/>
          </a:solidFill>
          <a:ln w="1016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66176" y="2084831"/>
            <a:ext cx="594360" cy="2057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6" y="2084831"/>
            <a:ext cx="5943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A0E27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2221991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Select from 8 Design Styles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2706624"/>
            <a:ext cx="2880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Minimalist • Industrial • Cyberpunk • Modern Luxury • Scandinavian • Mid-Century • Zen • Bohemian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325112"/>
            <a:ext cx="3749039" cy="2057400"/>
          </a:xfrm>
          <a:prstGeom prst="rect">
            <a:avLst/>
          </a:prstGeom>
          <a:solidFill>
            <a:srgbClr val="121B38"/>
          </a:solidFill>
          <a:ln w="1016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325112"/>
            <a:ext cx="594360" cy="205740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325112"/>
            <a:ext cx="5943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A0E27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462272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AI Room Generation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946904"/>
            <a:ext cx="2880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ControlNet + Stable Diffusion 1.5. Preserves room structure. Returns styled image in 1-2 min.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325112"/>
            <a:ext cx="3749039" cy="2057400"/>
          </a:xfrm>
          <a:prstGeom prst="rect">
            <a:avLst/>
          </a:prstGeom>
          <a:solidFill>
            <a:srgbClr val="121B38"/>
          </a:solidFill>
          <a:ln w="1016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0248" y="4325112"/>
            <a:ext cx="594360" cy="20574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70248" y="4325112"/>
            <a:ext cx="5943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A0E27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01768" y="4462272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Before/After Comparison Slider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01768" y="4946904"/>
            <a:ext cx="2880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Interactive slider to compare original vs AI-generated room side by side.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66176" y="4325112"/>
            <a:ext cx="3749039" cy="2057400"/>
          </a:xfrm>
          <a:prstGeom prst="rect">
            <a:avLst/>
          </a:prstGeom>
          <a:solidFill>
            <a:srgbClr val="121B38"/>
          </a:solidFill>
          <a:ln w="1016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66176" y="4325112"/>
            <a:ext cx="594360" cy="205740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66176" y="4325112"/>
            <a:ext cx="5943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A0E27"/>
                </a:solidFill>
                <a:latin typeface="Calibr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97696" y="4462272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Download Result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97696" y="4946904"/>
            <a:ext cx="2880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Download full-resolution JPEG with InteriorAI watermark. Client-side canvas rendering.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4922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A8CB8"/>
                </a:solidFill>
                <a:latin typeface="Calibri"/>
              </a:rPr>
              <a:t>⚠  Note: Login/register alone is NOT an MVP — the app must fulfill its core purpose of room transformation.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Full-Stack AI Application — Technology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27432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618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E27"/>
                </a:solidFill>
                <a:latin typeface="Calibri"/>
              </a:rP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55648"/>
            <a:ext cx="2743200" cy="667512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55648"/>
            <a:ext cx="45720" cy="66751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7830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React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783080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D4FF"/>
                </a:solidFill>
                <a:latin typeface="Calibri"/>
              </a:rPr>
              <a:t>19.2.4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10312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8CB8"/>
                </a:solidFill>
                <a:latin typeface="Calibri"/>
              </a:rPr>
              <a:t>UI framework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450591"/>
            <a:ext cx="2743200" cy="667512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450591"/>
            <a:ext cx="45720" cy="66751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47802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Framer Motion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478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D4FF"/>
                </a:solidFill>
                <a:latin typeface="Calibri"/>
              </a:rPr>
              <a:t>12.35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2798063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8CB8"/>
                </a:solidFill>
                <a:latin typeface="Calibri"/>
              </a:rPr>
              <a:t>Animations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145536"/>
            <a:ext cx="2743200" cy="667512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145536"/>
            <a:ext cx="45720" cy="66751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1729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Firebase Auth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172968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D4FF"/>
                </a:solidFill>
                <a:latin typeface="Calibri"/>
              </a:rPr>
              <a:t>12.10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8CB8"/>
                </a:solidFill>
                <a:latin typeface="Calibri"/>
              </a:rPr>
              <a:t>Login / OAuth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840480"/>
            <a:ext cx="2743200" cy="667512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840480"/>
            <a:ext cx="45720" cy="66751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38679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Firebase Firestore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3867912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D4FF"/>
                </a:solidFill>
                <a:latin typeface="Calibri"/>
              </a:rPr>
              <a:t>12.10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418795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8CB8"/>
                </a:solidFill>
                <a:latin typeface="Calibri"/>
              </a:rPr>
              <a:t>Config sync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535424"/>
            <a:ext cx="2743200" cy="667512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4535424"/>
            <a:ext cx="45720" cy="66751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45628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Firebase Storage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562856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D4FF"/>
                </a:solidFill>
                <a:latin typeface="Calibri"/>
              </a:rPr>
              <a:t>12.10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488289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8CB8"/>
                </a:solidFill>
                <a:latin typeface="Calibri"/>
              </a:rPr>
              <a:t>Profile photos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230368"/>
            <a:ext cx="2743200" cy="667512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5230368"/>
            <a:ext cx="45720" cy="66751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52578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react-compare-slider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257800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D4FF"/>
                </a:solidFill>
                <a:latin typeface="Calibri"/>
              </a:rPr>
              <a:t>3.1.0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557784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8CB8"/>
                </a:solidFill>
                <a:latin typeface="Calibri"/>
              </a:rPr>
              <a:t>Before/after slider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925312"/>
            <a:ext cx="2743200" cy="667512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5925312"/>
            <a:ext cx="45720" cy="66751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" y="595274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Axios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0" y="595274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D4FF"/>
                </a:solidFill>
                <a:latin typeface="Calibri"/>
              </a:rPr>
              <a:t>1.13.6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" y="6272784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8CB8"/>
                </a:solidFill>
                <a:latin typeface="Calibri"/>
              </a:rPr>
              <a:t>HTTP requests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55263" y="1261872"/>
            <a:ext cx="27432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55263" y="12618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E27"/>
                </a:solidFill>
                <a:latin typeface="Calibri"/>
              </a:rPr>
              <a:t>BACKEND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55263" y="1755648"/>
            <a:ext cx="2743200" cy="667512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55263" y="1755648"/>
            <a:ext cx="45720" cy="6675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64991" y="17830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Flask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66944" y="1783080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6B35"/>
                </a:solidFill>
                <a:latin typeface="Calibri"/>
              </a:rPr>
              <a:t>3.1.3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64991" y="210312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8CB8"/>
                </a:solidFill>
                <a:latin typeface="Calibri"/>
              </a:rPr>
              <a:t>REST API server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55263" y="2450591"/>
            <a:ext cx="2743200" cy="667512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55263" y="2450591"/>
            <a:ext cx="45720" cy="6675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64991" y="247802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Flask-CORS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66944" y="2478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6B35"/>
                </a:solidFill>
                <a:latin typeface="Calibri"/>
              </a:rPr>
              <a:t>6.0.2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64991" y="2798063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8CB8"/>
                </a:solidFill>
                <a:latin typeface="Calibri"/>
              </a:rPr>
              <a:t>Cross-origin handling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55263" y="3145536"/>
            <a:ext cx="2743200" cy="667512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55263" y="3145536"/>
            <a:ext cx="45720" cy="6675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64991" y="31729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Pillow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66944" y="3172968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6B35"/>
                </a:solidFill>
                <a:latin typeface="Calibri"/>
              </a:rPr>
              <a:t>12.1.1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64991" y="3493008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8CB8"/>
                </a:solidFill>
                <a:latin typeface="Calibri"/>
              </a:rPr>
              <a:t>Image resizing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55263" y="3840480"/>
            <a:ext cx="2743200" cy="667512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255263" y="3840480"/>
            <a:ext cx="45720" cy="6675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64991" y="38679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Gunicorn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66944" y="3867912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6B35"/>
                </a:solidFill>
                <a:latin typeface="Calibri"/>
              </a:rPr>
              <a:t>21.2.0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64991" y="418795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8CB8"/>
                </a:solidFill>
                <a:latin typeface="Calibri"/>
              </a:rPr>
              <a:t>WSGI server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55263" y="4535424"/>
            <a:ext cx="2743200" cy="667512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255263" y="4535424"/>
            <a:ext cx="45720" cy="6675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64991" y="45628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Replicate SDK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66944" y="4562856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6B35"/>
                </a:solidFill>
                <a:latin typeface="Calibri"/>
              </a:rPr>
              <a:t>≥0.34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64991" y="488289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8CB8"/>
                </a:solidFill>
                <a:latin typeface="Calibri"/>
              </a:rPr>
              <a:t>AI fallback API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36207" y="1261872"/>
            <a:ext cx="2743200" cy="45720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36207" y="12618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E27"/>
                </a:solidFill>
                <a:latin typeface="Calibri"/>
              </a:rPr>
              <a:t>AI / ML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36207" y="1755648"/>
            <a:ext cx="2743200" cy="667512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36207" y="1755648"/>
            <a:ext cx="45720" cy="66751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45936" y="17830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Stable Diffusion 1.5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47888" y="1783080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E576"/>
                </a:solidFill>
                <a:latin typeface="Calibri"/>
              </a:rPr>
              <a:t>HuggingFace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45936" y="210312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8CB8"/>
                </a:solidFill>
                <a:latin typeface="Calibri"/>
              </a:rPr>
              <a:t>Core generation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36207" y="2450591"/>
            <a:ext cx="2743200" cy="667512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236207" y="2450591"/>
            <a:ext cx="45720" cy="66751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45936" y="247802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ControlNet (Canny)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47888" y="2478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E576"/>
                </a:solidFill>
                <a:latin typeface="Calibri"/>
              </a:rPr>
              <a:t>HuggingFace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45936" y="2798063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8CB8"/>
                </a:solidFill>
                <a:latin typeface="Calibri"/>
              </a:rPr>
              <a:t>Structure preserve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36207" y="3145536"/>
            <a:ext cx="2743200" cy="667512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236207" y="3145536"/>
            <a:ext cx="45720" cy="66751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45936" y="31729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YOLOv8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47888" y="3172968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E576"/>
                </a:solidFill>
                <a:latin typeface="Calibri"/>
              </a:rPr>
              <a:t>Ultralytics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45936" y="3493008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8CB8"/>
                </a:solidFill>
                <a:latin typeface="Calibri"/>
              </a:rPr>
              <a:t>Object detection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36207" y="3840480"/>
            <a:ext cx="2743200" cy="667512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236207" y="3840480"/>
            <a:ext cx="45720" cy="66751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45936" y="38679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Segment Anything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47888" y="3867912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E576"/>
                </a:solidFill>
                <a:latin typeface="Calibri"/>
              </a:rPr>
              <a:t>Meta AI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45936" y="418795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8CB8"/>
                </a:solidFill>
                <a:latin typeface="Calibri"/>
              </a:rPr>
              <a:t>Object masking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36207" y="4535424"/>
            <a:ext cx="2743200" cy="667512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236207" y="4535424"/>
            <a:ext cx="45720" cy="66751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45936" y="45628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SD Inpainting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47888" y="4562856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E576"/>
                </a:solidFill>
                <a:latin typeface="Calibri"/>
              </a:rPr>
              <a:t>RunwayML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45936" y="488289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8CB8"/>
                </a:solidFill>
                <a:latin typeface="Calibri"/>
              </a:rPr>
              <a:t>Object replacement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217152" y="1261872"/>
            <a:ext cx="2743200" cy="457200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217152" y="12618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E27"/>
                </a:solidFill>
                <a:latin typeface="Calibri"/>
              </a:rPr>
              <a:t>INFRASTRUCTURE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217152" y="1755648"/>
            <a:ext cx="2743200" cy="667512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217152" y="1755648"/>
            <a:ext cx="45720" cy="667512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326880" y="17830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Google Colab T4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228832" y="1783080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5DF5"/>
                </a:solidFill>
                <a:latin typeface="Calibri"/>
              </a:rPr>
              <a:t>Free GPU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326880" y="210312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8CB8"/>
                </a:solidFill>
                <a:latin typeface="Calibri"/>
              </a:rPr>
              <a:t>Primary AI compute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217152" y="2450591"/>
            <a:ext cx="2743200" cy="667512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17152" y="2450591"/>
            <a:ext cx="45720" cy="667512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326880" y="247802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Vercel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228832" y="2478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5DF5"/>
                </a:solidFill>
                <a:latin typeface="Calibri"/>
              </a:rPr>
              <a:t>Frontend CDN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326880" y="2798063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8CB8"/>
                </a:solidFill>
                <a:latin typeface="Calibri"/>
              </a:rPr>
              <a:t>App hosting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217152" y="3145536"/>
            <a:ext cx="2743200" cy="667512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217152" y="3145536"/>
            <a:ext cx="45720" cy="667512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326880" y="31729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ngrok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228832" y="3172968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5DF5"/>
                </a:solidFill>
                <a:latin typeface="Calibri"/>
              </a:rPr>
              <a:t>Tunnel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326880" y="3493008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8CB8"/>
                </a:solidFill>
                <a:latin typeface="Calibri"/>
              </a:rPr>
              <a:t>Colab URL expose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217152" y="3840480"/>
            <a:ext cx="2743200" cy="667512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217152" y="3840480"/>
            <a:ext cx="45720" cy="667512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326880" y="38679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Firebase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1228832" y="3867912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5DF5"/>
                </a:solidFill>
                <a:latin typeface="Calibri"/>
              </a:rPr>
              <a:t>Google Cloud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326880" y="418795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8CB8"/>
                </a:solidFill>
                <a:latin typeface="Calibri"/>
              </a:rPr>
              <a:t>Auth + DB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217152" y="4535424"/>
            <a:ext cx="2743200" cy="667512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217152" y="4535424"/>
            <a:ext cx="45720" cy="667512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326880" y="45628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Render.com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228832" y="4562856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5DF5"/>
                </a:solidFill>
                <a:latin typeface="Calibri"/>
              </a:rPr>
              <a:t>Optional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326880" y="488289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8CB8"/>
                </a:solidFill>
                <a:latin typeface="Calibri"/>
              </a:rPr>
              <a:t>Backend hosting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AI Models &amp; Techniques Powering the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640080" cy="9875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61872"/>
            <a:ext cx="6400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E27"/>
                </a:solidFill>
                <a:latin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1261872"/>
            <a:ext cx="10972800" cy="987552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ControlNet + Canny Edge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719072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Extracts structural edges (walls, windows, doors) from the original photo using Canny filter. Edges are fed as spatial conditioning to Stable Diffusion — ensuring the generated image respects the exact room layout. Without ControlNet, AI ignores room structure.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50008"/>
            <a:ext cx="640080" cy="987552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350008"/>
            <a:ext cx="6400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E27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2350008"/>
            <a:ext cx="10972800" cy="987552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414015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5DF5"/>
                </a:solidFill>
                <a:latin typeface="Calibri"/>
              </a:rPr>
              <a:t>Stable Diffusion 1.5 (Text-Guided Diffusion)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80720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Iterative denoising process (~25 steps). Converts text prompts like 'minimalist white living room, marble, 8k' into photorealistic images. Strength: 0.75 (transforms 75% of the image, preserving 25% of original structure).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38144"/>
            <a:ext cx="640080" cy="98755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438144"/>
            <a:ext cx="6400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E27"/>
                </a:solidFill>
                <a:latin typeface="Calibri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3438144"/>
            <a:ext cx="10972800" cy="987552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502151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76"/>
                </a:solidFill>
                <a:latin typeface="Calibri"/>
              </a:rPr>
              <a:t>YOLOv8 Object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895344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YOLO = You Only Look Once. Runs on the styled image to locate furniture: sofa, chair, table, lamp, plant, etc. Uses 15% confidence threshold (lower than default to detect partially visible objects). Returns bounding boxes + class labels.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526279"/>
            <a:ext cx="640080" cy="98755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526279"/>
            <a:ext cx="6400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E27"/>
                </a:solidFill>
                <a:latin typeface="Calibri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4526279"/>
            <a:ext cx="10972800" cy="987552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59028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800"/>
                </a:solidFill>
                <a:latin typeface="Calibri"/>
              </a:rPr>
              <a:t>Segment Anything Model (SAM)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983479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Uses YOLOv8 bounding boxes as spatial prompts for SAM. Creates pixel-precise segmentation masks — not rectangles, but exact object outlines. Mask is passed to Inpainting to protect surrounding pixels from modification.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614416"/>
            <a:ext cx="640080" cy="9875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5614416"/>
            <a:ext cx="6400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E27"/>
                </a:solidFill>
                <a:latin typeface="Calibri"/>
              </a:rP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5614416"/>
            <a:ext cx="10972800" cy="987552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67842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"/>
              </a:rPr>
              <a:t>Stable Diffusion Inpainting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6071616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Uses SAM mask to define replacement region. Regenerates ONLY the masked area using a new text prompt (e.g., 'emerald velvet sofa'). All surrounding room pixels remain completely untouched — enabling surgical object replacement.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Architecture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System Components &amp; Data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2743200" cy="1280160"/>
          </a:xfrm>
          <a:prstGeom prst="rect">
            <a:avLst/>
          </a:prstGeom>
          <a:solidFill>
            <a:srgbClr val="121B38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2743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898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  <a:latin typeface="Calibri"/>
              </a:rPr>
              <a:t>USER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10512"/>
            <a:ext cx="25603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8E8"/>
                </a:solidFill>
                <a:latin typeface="Calibri"/>
              </a:rPr>
              <a:t>React 19 App
Vercel CDN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280160"/>
            <a:ext cx="3017520" cy="1280160"/>
          </a:xfrm>
          <a:prstGeom prst="rect">
            <a:avLst/>
          </a:prstGeom>
          <a:solidFill>
            <a:srgbClr val="121B38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280160"/>
            <a:ext cx="30175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389888"/>
            <a:ext cx="2834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35"/>
                </a:solidFill>
                <a:latin typeface="Calibri"/>
              </a:rPr>
              <a:t>FLASK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810512"/>
            <a:ext cx="283463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8E8"/>
                </a:solidFill>
                <a:latin typeface="Calibri"/>
              </a:rPr>
              <a:t>Python REST API
Render / Local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280160"/>
            <a:ext cx="3017520" cy="1280160"/>
          </a:xfrm>
          <a:prstGeom prst="rect">
            <a:avLst/>
          </a:prstGeom>
          <a:solidFill>
            <a:srgbClr val="121B38"/>
          </a:solidFill>
          <a:ln w="1270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9680" y="1280160"/>
            <a:ext cx="3017520" cy="54864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19" y="1389888"/>
            <a:ext cx="2834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800"/>
                </a:solidFill>
                <a:latin typeface="Calibri"/>
              </a:rPr>
              <a:t>FIREBASE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9" y="1810512"/>
            <a:ext cx="283463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8E8"/>
                </a:solidFill>
                <a:latin typeface="Calibri"/>
              </a:rPr>
              <a:t>Auth + Firestore
Storage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200400"/>
            <a:ext cx="2926080" cy="2011680"/>
          </a:xfrm>
          <a:prstGeom prst="rect">
            <a:avLst/>
          </a:prstGeom>
          <a:solidFill>
            <a:srgbClr val="121B38"/>
          </a:solidFill>
          <a:ln w="127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0" y="3200400"/>
            <a:ext cx="2926080" cy="54864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33101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576"/>
                </a:solidFill>
                <a:latin typeface="Calibri"/>
              </a:rPr>
              <a:t>GOOGLE COLAB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730752"/>
            <a:ext cx="2743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8E8"/>
                </a:solidFill>
                <a:latin typeface="Calibri"/>
              </a:rPr>
              <a:t>T4 GPU
SD 1.5 + ControlNet
YOLOv8 + SAM
Inpainting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3200400"/>
            <a:ext cx="2560320" cy="1234440"/>
          </a:xfrm>
          <a:prstGeom prst="rect">
            <a:avLst/>
          </a:prstGeom>
          <a:solidFill>
            <a:srgbClr val="121B38"/>
          </a:solidFill>
          <a:ln w="12700">
            <a:solidFill>
              <a:srgbClr val="9B5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0" y="3200400"/>
            <a:ext cx="2560320" cy="54864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59" y="3310128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B5DF5"/>
                </a:solidFill>
                <a:latin typeface="Calibri"/>
              </a:rPr>
              <a:t>REPLICATE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59" y="3730752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8E8"/>
                </a:solidFill>
                <a:latin typeface="Calibri"/>
              </a:rPr>
              <a:t>Paid Fallback
img2img models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5394960"/>
            <a:ext cx="2926080" cy="822960"/>
          </a:xfrm>
          <a:prstGeom prst="rect">
            <a:avLst/>
          </a:prstGeom>
          <a:solidFill>
            <a:srgbClr val="121B38"/>
          </a:solidFill>
          <a:ln w="12700">
            <a:solidFill>
              <a:srgbClr val="6A8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0" y="5394960"/>
            <a:ext cx="2926080" cy="54864"/>
          </a:xfrm>
          <a:prstGeom prst="rect">
            <a:avLst/>
          </a:prstGeom>
          <a:solidFill>
            <a:srgbClr val="6A8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0" y="550468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A8CB8"/>
                </a:solidFill>
                <a:latin typeface="Calibri"/>
              </a:rPr>
              <a:t>ngrok TUNNEL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5925312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8E8"/>
                </a:solidFill>
                <a:latin typeface="Calibri"/>
              </a:rPr>
              <a:t>Public URL
for Colab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1783080"/>
            <a:ext cx="155448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35808" y="15727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8CB8"/>
                </a:solidFill>
                <a:latin typeface="Calibri"/>
              </a:rPr>
              <a:t>HTTP/Axios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1783080"/>
            <a:ext cx="1280160" cy="36576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0" y="15727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8CB8"/>
                </a:solidFill>
                <a:latin typeface="Calibri"/>
              </a:rPr>
              <a:t>Firebase SDK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27448" y="2560320"/>
            <a:ext cx="36576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0" y="2834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8CB8"/>
                </a:solidFill>
                <a:latin typeface="Calibri"/>
              </a:rPr>
              <a:t>Colab mode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0" y="3429000"/>
            <a:ext cx="-420624" cy="36576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78040" y="3200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A8CB8"/>
                </a:solidFill>
                <a:latin typeface="Calibri"/>
              </a:rPr>
              <a:t>Replicate mode (fallback)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5212080"/>
            <a:ext cx="36576" cy="18288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01200" y="2926080"/>
            <a:ext cx="2286000" cy="2194560"/>
          </a:xfrm>
          <a:prstGeom prst="rect">
            <a:avLst/>
          </a:prstGeom>
          <a:solidFill>
            <a:srgbClr val="081425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46920" y="29992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  <a:latin typeface="Calibri"/>
              </a:rPr>
              <a:t>ROUTING LOGIC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33756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76"/>
                </a:solidFill>
                <a:latin typeface="Calibri"/>
              </a:rPr>
              <a:t>1. Colab URL set?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363016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76"/>
                </a:solidFill>
                <a:latin typeface="Calibri"/>
              </a:rPr>
              <a:t>   → Route to Colab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6920" y="392277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5DF5"/>
                </a:solidFill>
                <a:latin typeface="Calibri"/>
              </a:rPr>
              <a:t>2. Replicate token?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46920" y="4215383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5DF5"/>
                </a:solidFill>
                <a:latin typeface="Calibri"/>
              </a:rPr>
              <a:t>   → Use Replicate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6920" y="450799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3. Neither?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46920" y="48006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4D6D"/>
                </a:solidFill>
                <a:latin typeface="Calibri"/>
              </a:rPr>
              <a:t>   → 503 Error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Context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System Boundary &amp; External Actors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2286000"/>
            <a:ext cx="3959352" cy="2286000"/>
          </a:xfrm>
          <a:prstGeom prst="rect">
            <a:avLst/>
          </a:prstGeom>
          <a:solidFill>
            <a:srgbClr val="121B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2468880"/>
            <a:ext cx="3959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FF"/>
                </a:solidFill>
                <a:latin typeface="Calibri"/>
              </a:rPr>
              <a:t>AI INTERIOR
DESIGNER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840480"/>
            <a:ext cx="3959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A8CB8"/>
                </a:solidFill>
                <a:latin typeface="Calibri"/>
              </a:rPr>
              <a:t>Full-Stack Web App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2743200"/>
            <a:ext cx="1828800" cy="1371600"/>
          </a:xfrm>
          <a:prstGeom prst="ellipse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A0E27"/>
                </a:solidFill>
                <a:latin typeface="Calibri"/>
              </a:rPr>
              <a:t>USER
(Browser)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6052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8CB8"/>
                </a:solidFill>
                <a:latin typeface="Calibri"/>
              </a:rPr>
              <a:t>Uploads image
Selects style
← Downloads result</a:t>
            </a:r>
          </a:p>
        </p:txBody>
      </p:sp>
      <p:sp>
        <p:nvSpPr>
          <p:cNvPr id="12" name="Oval 11"/>
          <p:cNvSpPr/>
          <p:nvPr/>
        </p:nvSpPr>
        <p:spPr>
          <a:xfrm>
            <a:off x="9052560" y="1097280"/>
            <a:ext cx="1828800" cy="1371600"/>
          </a:xfrm>
          <a:prstGeom prst="ellipse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A0E27"/>
                </a:solidFill>
                <a:latin typeface="Calibri"/>
              </a:rPr>
              <a:t>FIREBASE
(Auth + DB)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514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8CB8"/>
                </a:solidFill>
                <a:latin typeface="Calibri"/>
              </a:rPr>
              <a:t>Authentication
Colab URL sync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4114800"/>
            <a:ext cx="1828800" cy="1371600"/>
          </a:xfrm>
          <a:prstGeom prst="ellipse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A0E27"/>
                </a:solidFill>
                <a:latin typeface="Calibri"/>
              </a:rPr>
              <a:t>GOOGLE COLAB
(T4 GPU)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553212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8CB8"/>
                </a:solidFill>
                <a:latin typeface="Calibri"/>
              </a:rPr>
              <a:t>AI processing
← Styled image</a:t>
            </a:r>
          </a:p>
        </p:txBody>
      </p:sp>
      <p:sp>
        <p:nvSpPr>
          <p:cNvPr id="16" name="Oval 15"/>
          <p:cNvSpPr/>
          <p:nvPr/>
        </p:nvSpPr>
        <p:spPr>
          <a:xfrm>
            <a:off x="365760" y="5029200"/>
            <a:ext cx="1828800" cy="1371600"/>
          </a:xfrm>
          <a:prstGeom prst="ellipse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A0E27"/>
                </a:solidFill>
                <a:latin typeface="Calibri"/>
              </a:rPr>
              <a:t>REPLICATE API
(Fallback)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8CB8"/>
                </a:solidFill>
                <a:latin typeface="Calibri"/>
              </a:rPr>
              <a:t>Backup AI calls
← Styled image</a:t>
            </a:r>
          </a:p>
        </p:txBody>
      </p:sp>
      <p:sp>
        <p:nvSpPr>
          <p:cNvPr id="18" name="Oval 17"/>
          <p:cNvSpPr/>
          <p:nvPr/>
        </p:nvSpPr>
        <p:spPr>
          <a:xfrm>
            <a:off x="4297680" y="640080"/>
            <a:ext cx="1828800" cy="13716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A0E27"/>
                </a:solidFill>
                <a:latin typeface="Calibri"/>
              </a:rPr>
              <a:t>VERCEL
(CDN)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0574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8CB8"/>
                </a:solidFill>
                <a:latin typeface="Calibri"/>
              </a:rPr>
              <a:t>Hosts React app
← Serves frontend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ER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Entity-Relationship Diagram — Data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2004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  <a:latin typeface="Calibri"/>
              </a:rPr>
              <a:t>USER (Firebase Auth)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3200400" cy="1920240"/>
          </a:xfrm>
          <a:prstGeom prst="rect">
            <a:avLst/>
          </a:prstGeom>
          <a:solidFill>
            <a:srgbClr val="121B3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3200400" cy="384048"/>
          </a:xfrm>
          <a:prstGeom prst="rect">
            <a:avLst/>
          </a:prstGeom>
          <a:solidFill>
            <a:srgbClr val="08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20802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C800"/>
                </a:solidFill>
                <a:latin typeface="Calibri"/>
              </a:rPr>
              <a:t>🔑 uid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6020" y="1783080"/>
            <a:ext cx="102869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A8CB8"/>
                </a:solidFill>
                <a:latin typeface="Calibri"/>
              </a:rPr>
              <a:t>string (PK)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21408"/>
            <a:ext cx="3200400" cy="38404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67128"/>
            <a:ext cx="20802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   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6020" y="2167128"/>
            <a:ext cx="102869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A8CB8"/>
                </a:solidFill>
                <a:latin typeface="Calibri"/>
              </a:rPr>
              <a:t>string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05456"/>
            <a:ext cx="3200400" cy="384048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551176"/>
            <a:ext cx="20802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   displayName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6020" y="2551176"/>
            <a:ext cx="102869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A8CB8"/>
                </a:solidFill>
                <a:latin typeface="Calibri"/>
              </a:rPr>
              <a:t>string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89504"/>
            <a:ext cx="3200400" cy="38404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935224"/>
            <a:ext cx="20802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   photoURL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46020" y="2935224"/>
            <a:ext cx="102869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A8CB8"/>
                </a:solidFill>
                <a:latin typeface="Calibri"/>
              </a:rPr>
              <a:t>string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73552"/>
            <a:ext cx="3200400" cy="384048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319272"/>
            <a:ext cx="20802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   createdAt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46020" y="3319272"/>
            <a:ext cx="102869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A8CB8"/>
                </a:solidFill>
                <a:latin typeface="Calibri"/>
              </a:rPr>
              <a:t>timestamp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1280160"/>
            <a:ext cx="3657600" cy="457200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  <a:latin typeface="Calibri"/>
              </a:rPr>
              <a:t>DESIGN_SESSION (localStorage)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1737360"/>
            <a:ext cx="3657600" cy="2688336"/>
          </a:xfrm>
          <a:prstGeom prst="rect">
            <a:avLst/>
          </a:prstGeom>
          <a:solidFill>
            <a:srgbClr val="121B38"/>
          </a:solidFill>
          <a:ln w="6350">
            <a:solidFill>
              <a:srgbClr val="9B5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60" y="1737360"/>
            <a:ext cx="3657600" cy="384048"/>
          </a:xfrm>
          <a:prstGeom prst="rect">
            <a:avLst/>
          </a:prstGeom>
          <a:solidFill>
            <a:srgbClr val="08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1783080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C800"/>
                </a:solidFill>
                <a:latin typeface="Calibri"/>
              </a:rPr>
              <a:t>🔑 sessionId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1783080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A8CB8"/>
                </a:solidFill>
                <a:latin typeface="Calibri"/>
              </a:rPr>
              <a:t>string (PK)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2121408"/>
            <a:ext cx="3657600" cy="38404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216712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   userId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167128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A8CB8"/>
                </a:solidFill>
                <a:latin typeface="Calibri"/>
              </a:rPr>
              <a:t>string (FK)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2505456"/>
            <a:ext cx="3657600" cy="384048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2551176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   originalImage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2551176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A8CB8"/>
                </a:solidFill>
                <a:latin typeface="Calibri"/>
              </a:rPr>
              <a:t>base64 string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2889504"/>
            <a:ext cx="3657600" cy="38404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293522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   generatedImage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2935224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A8CB8"/>
                </a:solidFill>
                <a:latin typeface="Calibri"/>
              </a:rPr>
              <a:t>base64 string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0" y="3273552"/>
            <a:ext cx="3657600" cy="384048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331927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   selectedStyle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3319272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A8CB8"/>
                </a:solidFill>
                <a:latin typeface="Calibri"/>
              </a:rPr>
              <a:t>string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0" y="3657600"/>
            <a:ext cx="3657600" cy="38404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3703320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   appliedEdits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3703320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A8CB8"/>
                </a:solidFill>
                <a:latin typeface="Calibri"/>
              </a:rPr>
              <a:t>JSON array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80560" y="4041648"/>
            <a:ext cx="3657600" cy="384048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0" y="408736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   createdAt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4087368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A8CB8"/>
                </a:solidFill>
                <a:latin typeface="Calibri"/>
              </a:rPr>
              <a:t>timestamp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686800" y="1280160"/>
            <a:ext cx="3200400" cy="4572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  <a:latin typeface="Calibri"/>
              </a:rPr>
              <a:t>CONFIG (Firestore)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86800" y="1737360"/>
            <a:ext cx="3200400" cy="1920240"/>
          </a:xfrm>
          <a:prstGeom prst="rect">
            <a:avLst/>
          </a:prstGeom>
          <a:solidFill>
            <a:srgbClr val="121B38"/>
          </a:solidFill>
          <a:ln w="635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686800" y="1737360"/>
            <a:ext cx="3200400" cy="384048"/>
          </a:xfrm>
          <a:prstGeom prst="rect">
            <a:avLst/>
          </a:prstGeom>
          <a:solidFill>
            <a:srgbClr val="08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78240" y="1783080"/>
            <a:ext cx="20802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C800"/>
                </a:solidFill>
                <a:latin typeface="Calibri"/>
              </a:rPr>
              <a:t>🔑 docId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67060" y="1783080"/>
            <a:ext cx="102869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A8CB8"/>
                </a:solidFill>
                <a:latin typeface="Calibri"/>
              </a:rPr>
              <a:t>'colab_url' (PK)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86800" y="2121408"/>
            <a:ext cx="3200400" cy="38404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78240" y="2167128"/>
            <a:ext cx="20802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   url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67060" y="2167128"/>
            <a:ext cx="102869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A8CB8"/>
                </a:solidFill>
                <a:latin typeface="Calibri"/>
              </a:rPr>
              <a:t>string (ngrok)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86800" y="2505456"/>
            <a:ext cx="3200400" cy="384048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78240" y="2551176"/>
            <a:ext cx="20802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   active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67060" y="2551176"/>
            <a:ext cx="102869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A8CB8"/>
                </a:solidFill>
                <a:latin typeface="Calibri"/>
              </a:rPr>
              <a:t>boolean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686800" y="2889504"/>
            <a:ext cx="3200400" cy="38404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78240" y="2935224"/>
            <a:ext cx="20802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   secret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67060" y="2935224"/>
            <a:ext cx="102869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A8CB8"/>
                </a:solidFill>
                <a:latin typeface="Calibri"/>
              </a:rPr>
              <a:t>write-key string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686800" y="3273552"/>
            <a:ext cx="3200400" cy="384048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78240" y="3319272"/>
            <a:ext cx="20802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   updatedAt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67060" y="3319272"/>
            <a:ext cx="102869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A8CB8"/>
                </a:solidFill>
                <a:latin typeface="Calibri"/>
              </a:rPr>
              <a:t>timestamp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66160" y="2560320"/>
            <a:ext cx="914400" cy="36576"/>
          </a:xfrm>
          <a:prstGeom prst="rect">
            <a:avLst/>
          </a:prstGeom>
          <a:solidFill>
            <a:srgbClr val="6A8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66160" y="23774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A8CB8"/>
                </a:solidFill>
                <a:latin typeface="Calibri"/>
              </a:rPr>
              <a:t>1  to  many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66160" y="2606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A8CB8"/>
                </a:solidFill>
                <a:latin typeface="Calibri"/>
              </a:rPr>
              <a:t>User — Sessions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0" y="53035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8CB8"/>
                </a:solidFill>
                <a:latin typeface="Calibri"/>
              </a:rPr>
              <a:t>Global config — no user FK
(Colab registers itself via secret key)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Sequence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User Interaction → Flask API → AI Pipeline → Result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234440"/>
            <a:ext cx="1280160" cy="685800"/>
          </a:xfrm>
          <a:prstGeom prst="ellipse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A0E27"/>
                </a:solidFill>
                <a:latin typeface="Calibri"/>
              </a:rPr>
              <a:t>User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1920240"/>
            <a:ext cx="36576" cy="475488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94560" y="1234440"/>
            <a:ext cx="1280160" cy="685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A0E27"/>
                </a:solidFill>
                <a:latin typeface="Calibri"/>
              </a:rPr>
              <a:t>React
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920240"/>
            <a:ext cx="36576" cy="47548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14800" y="1234440"/>
            <a:ext cx="1280160" cy="6858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A0E27"/>
                </a:solidFill>
                <a:latin typeface="Calibri"/>
              </a:rPr>
              <a:t>Flask
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1920240"/>
            <a:ext cx="36576" cy="4754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0" y="1234440"/>
            <a:ext cx="1280160" cy="685800"/>
          </a:xfrm>
          <a:prstGeom prst="ellipse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A0E27"/>
                </a:solidFill>
                <a:latin typeface="Calibri"/>
              </a:rPr>
              <a:t>Colab
GPU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1920240"/>
            <a:ext cx="36576" cy="4754880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0" y="1234440"/>
            <a:ext cx="1280160" cy="685800"/>
          </a:xfrm>
          <a:prstGeom prst="ellipse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A0E27"/>
                </a:solidFill>
                <a:latin typeface="Calibri"/>
              </a:rPr>
              <a:t>Firebase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21240" y="1920240"/>
            <a:ext cx="36576" cy="475488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9848" y="1161288"/>
            <a:ext cx="1700784" cy="36576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896112"/>
            <a:ext cx="16093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E576"/>
                </a:solidFill>
                <a:latin typeface="Calibri"/>
              </a:rPr>
              <a:t>Upload image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07208" y="1618488"/>
            <a:ext cx="188366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52927" y="1353312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D4FF"/>
                </a:solidFill>
                <a:latin typeface="Calibri"/>
              </a:rPr>
              <a:t>POST /upload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07208" y="1938528"/>
            <a:ext cx="1883664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52927" y="1673351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6B35"/>
                </a:solidFill>
                <a:latin typeface="Calibri"/>
              </a:rPr>
              <a:t>{path: ok}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07208" y="2350008"/>
            <a:ext cx="188366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52927" y="2084832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D4FF"/>
                </a:solidFill>
                <a:latin typeface="Calibri"/>
              </a:rPr>
              <a:t>POST /generate
{style, palette}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27448" y="2807208"/>
            <a:ext cx="5175503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2542032"/>
            <a:ext cx="5084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6B35"/>
                </a:solidFill>
                <a:latin typeface="Calibri"/>
              </a:rPr>
              <a:t>Read colab_url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27448" y="3218688"/>
            <a:ext cx="2249424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73168" y="2953512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6B35"/>
                </a:solidFill>
                <a:latin typeface="Calibri"/>
              </a:rPr>
              <a:t>POST /colab-generate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27448" y="4041648"/>
            <a:ext cx="2249424" cy="36576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3776472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B5DF5"/>
                </a:solidFill>
                <a:latin typeface="Calibri"/>
              </a:rPr>
              <a:t>{image: base64}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07208" y="4453128"/>
            <a:ext cx="1883664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52927" y="4187952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6B35"/>
                </a:solidFill>
                <a:latin typeface="Calibri"/>
              </a:rPr>
              <a:t>{image: base64}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9848" y="4864607"/>
            <a:ext cx="170078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5568" y="4599431"/>
            <a:ext cx="16093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D4FF"/>
                </a:solidFill>
                <a:latin typeface="Calibri"/>
              </a:rPr>
              <a:t>Show result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9848" y="5276088"/>
            <a:ext cx="1700784" cy="36576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5568" y="5010912"/>
            <a:ext cx="16093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E576"/>
                </a:solidFill>
                <a:latin typeface="Calibri"/>
              </a:rPr>
              <a:t>Click Edit
Object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07208" y="5641848"/>
            <a:ext cx="188366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52927" y="5376672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D4FF"/>
                </a:solidFill>
                <a:latin typeface="Calibri"/>
              </a:rPr>
              <a:t>POST /edit-object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27448" y="5961888"/>
            <a:ext cx="2249424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73168" y="5696712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6B35"/>
                </a:solidFill>
                <a:latin typeface="Calibri"/>
              </a:rPr>
              <a:t>YOLOv8+SAM+
Inpaint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07208" y="6464807"/>
            <a:ext cx="4169663" cy="36576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52927" y="6199631"/>
            <a:ext cx="4078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B5DF5"/>
                </a:solidFill>
                <a:latin typeface="Calibri"/>
              </a:rPr>
              <a:t>{edited image}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State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Application States &amp; Transitions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560320" cy="1371600"/>
          </a:xfrm>
          <a:prstGeom prst="roundRect">
            <a:avLst/>
          </a:prstGeom>
          <a:solidFill>
            <a:srgbClr val="121B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4FF"/>
                </a:solidFill>
                <a:latin typeface="Calibri"/>
              </a:rP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8E8"/>
                </a:solidFill>
                <a:latin typeface="Calibri"/>
              </a:rPr>
              <a:t>step = 1
User selects room photo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63040"/>
            <a:ext cx="3017520" cy="1371600"/>
          </a:xfrm>
          <a:prstGeom prst="roundRect">
            <a:avLst/>
          </a:prstGeom>
          <a:solidFill>
            <a:srgbClr val="121B38"/>
          </a:solidFill>
          <a:ln w="19050">
            <a:solidFill>
              <a:srgbClr val="9B5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544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B5DF5"/>
                </a:solidFill>
                <a:latin typeface="Calibri"/>
              </a:rPr>
              <a:t>STYLE SELECT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659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8E8"/>
                </a:solidFill>
                <a:latin typeface="Calibri"/>
              </a:rPr>
              <a:t>step = 2
Pick style + palette
+ custom prompt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463040"/>
            <a:ext cx="2743200" cy="1371600"/>
          </a:xfrm>
          <a:prstGeom prst="roundRect">
            <a:avLst/>
          </a:prstGeom>
          <a:solidFill>
            <a:srgbClr val="121B38"/>
          </a:solidFill>
          <a:ln w="1905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554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576"/>
                </a:solidFill>
                <a:latin typeface="Calibri"/>
              </a:rPr>
              <a:t>RESULT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9659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8E8"/>
                </a:solidFill>
                <a:latin typeface="Calibri"/>
              </a:rPr>
              <a:t>step = 3
Compare slider • Zoom
Download • Share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4114800"/>
            <a:ext cx="2743200" cy="1371600"/>
          </a:xfrm>
          <a:prstGeom prst="roundRect">
            <a:avLst/>
          </a:prstGeom>
          <a:solidFill>
            <a:srgbClr val="121B38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4206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6B35"/>
                </a:solidFill>
                <a:latin typeface="Calibri"/>
              </a:rPr>
              <a:t>OBJECT EDIT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6177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8E8"/>
                </a:solidFill>
                <a:latin typeface="Calibri"/>
              </a:rPr>
              <a:t>step = 4
Select object • Enter prompt
Apply inpainting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4114800"/>
            <a:ext cx="3017520" cy="1097280"/>
          </a:xfrm>
          <a:prstGeom prst="roundRect">
            <a:avLst/>
          </a:prstGeom>
          <a:solidFill>
            <a:srgbClr val="121B38"/>
          </a:solidFill>
          <a:ln w="1905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42062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800"/>
                </a:solidFill>
                <a:latin typeface="Calibri"/>
              </a:rPr>
              <a:t>LOADING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6177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8E8"/>
                </a:solidFill>
                <a:latin typeface="Calibri"/>
              </a:rPr>
              <a:t>Loading state
0-100% progress bar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2103120"/>
            <a:ext cx="146304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0" y="187451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D4FF"/>
                </a:solidFill>
                <a:latin typeface="Calibri"/>
              </a:rPr>
              <a:t>Image uploaded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2103120"/>
            <a:ext cx="1188720" cy="36576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79" y="187451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E576"/>
                </a:solidFill>
                <a:latin typeface="Calibri"/>
              </a:rPr>
              <a:t>Image returned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0" y="2834640"/>
            <a:ext cx="36576" cy="1280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2606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6B35"/>
                </a:solidFill>
                <a:latin typeface="Calibri"/>
              </a:rPr>
              <a:t>Edit objects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886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6B35"/>
                </a:solidFill>
                <a:latin typeface="Calibri"/>
              </a:rPr>
              <a:t>Edited ←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2834640"/>
            <a:ext cx="36576" cy="128016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32120" y="2606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C800"/>
                </a:solidFill>
                <a:latin typeface="Calibri"/>
              </a:rPr>
              <a:t>Generating...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A8CB8"/>
                </a:solidFill>
                <a:latin typeface="Calibri"/>
              </a:rPr>
              <a:t>Ctrl+Z → Undo last edit (reverts to previousImage)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6692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A8CB8"/>
                </a:solidFill>
                <a:latin typeface="Calibri"/>
              </a:rPr>
              <a:t>Ctrl+H → History panel (last 8 designs)
Esc → Close panels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Class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Frontend Components &amp; Backend Classes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292608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80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7"/>
                </a:solidFill>
                <a:latin typeface="Calibri"/>
              </a:rPr>
              <a:t>App.js (Main)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91639"/>
            <a:ext cx="2926080" cy="2478024"/>
          </a:xfrm>
          <a:prstGeom prst="rect">
            <a:avLst/>
          </a:prstGeom>
          <a:solidFill>
            <a:srgbClr val="121B3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737360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state: step, uploadedImage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084831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state: generatedImage,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432304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state: history, loading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779776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handleUpload() → POST /upload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3127248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handleGenerate() → POST /generate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474720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handleEditObject() → POST /edit-object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822191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handleUndo()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114800"/>
            <a:ext cx="2926080" cy="411480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114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7"/>
                </a:solidFill>
                <a:latin typeface="Calibri"/>
              </a:rPr>
              <a:t>Auth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526280"/>
            <a:ext cx="2926080" cy="1088136"/>
          </a:xfrm>
          <a:prstGeom prst="rect">
            <a:avLst/>
          </a:prstGeom>
          <a:solidFill>
            <a:srgbClr val="121B38"/>
          </a:solidFill>
          <a:ln w="6350">
            <a:solidFill>
              <a:srgbClr val="9B5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4572000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handleEmailLogin()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919472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handleGoogleLogin()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5266944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handleRegister()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577840"/>
            <a:ext cx="292608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55778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7"/>
                </a:solidFill>
                <a:latin typeface="Calibri"/>
              </a:rPr>
              <a:t>Upload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989320"/>
            <a:ext cx="2926080" cy="1088136"/>
          </a:xfrm>
          <a:prstGeom prst="rect">
            <a:avLst/>
          </a:prstGeom>
          <a:solidFill>
            <a:srgbClr val="121B38"/>
          </a:solidFill>
          <a:ln w="63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6035040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handleDrop()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" y="6382512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handleFileSelect()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" y="6729983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previewImage()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7560" y="1280160"/>
            <a:ext cx="2926080" cy="41148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37560" y="1280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7"/>
                </a:solidFill>
                <a:latin typeface="Calibri"/>
              </a:rPr>
              <a:t>StyleSelector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1691639"/>
            <a:ext cx="2926080" cy="1088136"/>
          </a:xfrm>
          <a:prstGeom prst="rect">
            <a:avLst/>
          </a:prstGeom>
          <a:solidFill>
            <a:srgbClr val="121B38"/>
          </a:solidFill>
          <a:ln w="635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10712" y="1737360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styles[8]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10712" y="2084831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colorPalettes[8]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10712" y="2432304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handlePreviewAll()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37560" y="3749039"/>
            <a:ext cx="2926080" cy="41148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37560" y="374903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7"/>
                </a:solidFill>
                <a:latin typeface="Calibri"/>
              </a:rPr>
              <a:t>ResultView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37560" y="4160520"/>
            <a:ext cx="2926080" cy="1435608"/>
          </a:xfrm>
          <a:prstGeom prst="rect">
            <a:avLst/>
          </a:prstGeom>
          <a:solidFill>
            <a:srgbClr val="121B38"/>
          </a:solidFill>
          <a:ln w="635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10712" y="4206240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compareSlider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10712" y="4553712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handleDownload()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10712" y="4901183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handleShare()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10712" y="5248656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zoomModal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1280160"/>
            <a:ext cx="292608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1280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7"/>
                </a:solidFill>
                <a:latin typeface="Calibri"/>
              </a:rPr>
              <a:t>ObjectEditor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1691639"/>
            <a:ext cx="2926080" cy="1435608"/>
          </a:xfrm>
          <a:prstGeom prst="rect">
            <a:avLst/>
          </a:prstGeom>
          <a:solidFill>
            <a:srgbClr val="121B38"/>
          </a:solidFill>
          <a:ln w="63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65392" y="1737360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detectedObjects[]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65392" y="2084831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editHistory[]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65392" y="2432304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suggestions{}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65392" y="2779776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handleEdit()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3931920"/>
            <a:ext cx="2926080" cy="411480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3931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7"/>
                </a:solidFill>
                <a:latin typeface="Calibri"/>
              </a:rPr>
              <a:t>FurnishRoom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4343400"/>
            <a:ext cx="2926080" cy="1088136"/>
          </a:xfrm>
          <a:prstGeom prst="rect">
            <a:avLst/>
          </a:prstGeom>
          <a:solidFill>
            <a:srgbClr val="121B38"/>
          </a:solidFill>
          <a:ln w="6350">
            <a:solidFill>
              <a:srgbClr val="9B5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65392" y="4389120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roomTypes[5]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65392" y="4736592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furnitureCategories{}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65392" y="5084064"/>
            <a:ext cx="2779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buildPrompt()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18320" y="1280160"/>
            <a:ext cx="256032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8320" y="1280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7"/>
                </a:solidFill>
                <a:latin typeface="Calibri"/>
              </a:rPr>
              <a:t>Flask App (app.py)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18320" y="1691640"/>
            <a:ext cx="2560320" cy="4389120"/>
          </a:xfrm>
          <a:prstGeom prst="rect">
            <a:avLst/>
          </a:prstGeom>
          <a:solidFill>
            <a:srgbClr val="121B38"/>
          </a:solidFill>
          <a:ln w="63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1737360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COLAB_URL = {url: None}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2157984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GET /health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2578608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POST /upload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2999232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POST /generate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91472" y="3419856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POST /detect-objects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91472" y="3840480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POST /edit-object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4261104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POST /preview-styles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91472" y="4681728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POST /set-colab-url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91472" y="5102352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route_to_colab()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91472" y="5522976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  <a:latin typeface="Calibri"/>
              </a:rPr>
              <a:t>route_to_replicate()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Sprint 3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What We Accomplished in Sprint 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11640312" cy="822960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54864" cy="8229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35440" y="1463039"/>
            <a:ext cx="2606040" cy="384048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0A0E27"/>
                </a:solidFill>
                <a:latin typeface="Calibri"/>
              </a:rPr>
              <a:t>✅ 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325880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ControlNet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691639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Room structure preserved using Canny edge detection + ControlNet conditioning. Walls, windows, and doors remain identical — only style changes.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67128"/>
            <a:ext cx="11640312" cy="822960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167128"/>
            <a:ext cx="54864" cy="82296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35440" y="2368296"/>
            <a:ext cx="2606040" cy="384048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0A0E27"/>
                </a:solidFill>
                <a:latin typeface="Calibri"/>
              </a:rPr>
              <a:t>✅ 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76"/>
                </a:solidFill>
                <a:latin typeface="Calibri"/>
              </a:rPr>
              <a:t>FurnishRoom Feature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596896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5 room types, 25+ furniture categories, 6 style preferences, custom item input. Builds AI prompt automatically.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72384"/>
            <a:ext cx="11640312" cy="822960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072384"/>
            <a:ext cx="54864" cy="822960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3273552"/>
            <a:ext cx="2606040" cy="384048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0A0E27"/>
                </a:solidFill>
                <a:latin typeface="Calibri"/>
              </a:rPr>
              <a:t>✅ 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136391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DF5"/>
                </a:solidFill>
                <a:latin typeface="Calibri"/>
              </a:rPr>
              <a:t>StyleComparison Component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3502152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3-panel side-by-side comparison: original room vs. current generated vs. any selected style thumbnail.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977639"/>
            <a:ext cx="11640312" cy="822960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977639"/>
            <a:ext cx="54864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4178807"/>
            <a:ext cx="2606040" cy="384048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0A0E27"/>
                </a:solidFill>
                <a:latin typeface="Calibri"/>
              </a:rPr>
              <a:t>✅ 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4041648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Object Editor (SAM + YOLOv8)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4407407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YOLOv8 detects furniture → SAM creates pixel masks → Inpainting replaces only masked area. Chain editing supported.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882896"/>
            <a:ext cx="11640312" cy="822960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882896"/>
            <a:ext cx="54864" cy="82296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35440" y="5084064"/>
            <a:ext cx="2606040" cy="384048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0A0E27"/>
                </a:solidFill>
                <a:latin typeface="Calibri"/>
              </a:rPr>
              <a:t>✅ COMPLETE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4946904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00"/>
                </a:solidFill>
                <a:latin typeface="Calibri"/>
              </a:rPr>
              <a:t>Error Handling Overhaul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5312664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Replaced all alert() calls with toast notifications. All fetch() calls guard against HTML 500 error responses.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788152"/>
            <a:ext cx="11640312" cy="822960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5788152"/>
            <a:ext cx="54864" cy="82296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35440" y="5989320"/>
            <a:ext cx="2606040" cy="384048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0A0E27"/>
                </a:solidFill>
                <a:latin typeface="Calibri"/>
              </a:rPr>
              <a:t>✅ COMPLETE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" y="5852160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6D"/>
                </a:solidFill>
                <a:latin typeface="Calibri"/>
              </a:rPr>
              <a:t>Colab Health Fix &amp; Toast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6217920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Fixed Colab health status format detection. Built global Toast provider + useToast hook across all components.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Product Backlog — User Stories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All features developed during sprint have an associated user story with Acceptance Criteria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5715000" cy="960120"/>
          </a:xfrm>
          <a:prstGeom prst="rect">
            <a:avLst/>
          </a:prstGeom>
          <a:solidFill>
            <a:srgbClr val="121B38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54864" cy="9601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167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US-001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53619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As a new user, I want to register an 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83794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8E8"/>
                </a:solidFill>
                <a:latin typeface="Calibri"/>
              </a:rPr>
              <a:t>AC: Given I am on the login page, when I enter email + password and click Register, then my account is created and I am redirected to the app.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261872"/>
            <a:ext cx="5715000" cy="960120"/>
          </a:xfrm>
          <a:prstGeom prst="rect">
            <a:avLst/>
          </a:prstGeom>
          <a:solidFill>
            <a:srgbClr val="121B38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261872"/>
            <a:ext cx="54864" cy="9601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167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US-002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53619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As a user, I want to log in with Google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3794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8E8"/>
                </a:solidFill>
                <a:latin typeface="Calibri"/>
              </a:rPr>
              <a:t>AC: Given I click Continue with Google, when I authenticate, then I am logged in via Firebase OAuth.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72384"/>
            <a:ext cx="5715000" cy="960120"/>
          </a:xfrm>
          <a:prstGeom prst="rect">
            <a:avLst/>
          </a:prstGeom>
          <a:solidFill>
            <a:srgbClr val="121B38"/>
          </a:solidFill>
          <a:ln w="10160">
            <a:solidFill>
              <a:srgbClr val="9B5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072384"/>
            <a:ext cx="54864" cy="960120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31272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DF5"/>
                </a:solidFill>
                <a:latin typeface="Calibri"/>
              </a:rPr>
              <a:t>US-003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3346703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As a user, I want to upload a room photo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36484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8E8"/>
                </a:solidFill>
                <a:latin typeface="Calibri"/>
              </a:rPr>
              <a:t>AC: Given I drag-drop or select a JPG/PNG, when upload completes, then a preview shows and style selector appears.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072384"/>
            <a:ext cx="5715000" cy="960120"/>
          </a:xfrm>
          <a:prstGeom prst="rect">
            <a:avLst/>
          </a:prstGeom>
          <a:solidFill>
            <a:srgbClr val="121B38"/>
          </a:solidFill>
          <a:ln w="10160">
            <a:solidFill>
              <a:srgbClr val="9B5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072384"/>
            <a:ext cx="54864" cy="960120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1272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DF5"/>
                </a:solidFill>
                <a:latin typeface="Calibri"/>
              </a:rPr>
              <a:t>US-004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346703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As a user, I want to select from 8 design styles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484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8E8"/>
                </a:solidFill>
                <a:latin typeface="Calibri"/>
              </a:rPr>
              <a:t>AC: Given I am on the style page, when I click a style card, then the style is highlighted and I can click Generate.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882896"/>
            <a:ext cx="5715000" cy="960120"/>
          </a:xfrm>
          <a:prstGeom prst="rect">
            <a:avLst/>
          </a:prstGeom>
          <a:solidFill>
            <a:srgbClr val="121B38"/>
          </a:solidFill>
          <a:ln w="1016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882896"/>
            <a:ext cx="54864" cy="96012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493775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76"/>
                </a:solidFill>
                <a:latin typeface="Calibri"/>
              </a:rPr>
              <a:t>US-005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515721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As a user, I want to generate a redesigned room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54589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8E8"/>
                </a:solidFill>
                <a:latin typeface="Calibri"/>
              </a:rPr>
              <a:t>AC: Given I have uploaded an image and selected a style, when I click Generate, then a styled image is returned within 2 min preserving room structure.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882896"/>
            <a:ext cx="5715000" cy="960120"/>
          </a:xfrm>
          <a:prstGeom prst="rect">
            <a:avLst/>
          </a:prstGeom>
          <a:solidFill>
            <a:srgbClr val="121B38"/>
          </a:solidFill>
          <a:ln w="1016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4882896"/>
            <a:ext cx="54864" cy="96012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93775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76"/>
                </a:solidFill>
                <a:latin typeface="Calibri"/>
              </a:rPr>
              <a:t>US-006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15721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As a user, I want before/after comparison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4589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8E8"/>
                </a:solidFill>
                <a:latin typeface="Calibri"/>
              </a:rPr>
              <a:t>AC: Given a generated image exists, when I drag the compare slider, then original and styled images are revealed proportionally.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Product Backlog — User Stories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All features developed during sprint have an associated user story with Acceptance Criteria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3749039" cy="960120"/>
          </a:xfrm>
          <a:prstGeom prst="rect">
            <a:avLst/>
          </a:prstGeom>
          <a:solidFill>
            <a:srgbClr val="121B38"/>
          </a:solidFill>
          <a:ln w="1016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54864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167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  <a:latin typeface="Calibri"/>
              </a:rPr>
              <a:t>US-007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536192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As a user, I want to download the redesigned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837943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8E8"/>
                </a:solidFill>
                <a:latin typeface="Calibri"/>
              </a:rPr>
              <a:t>AC: Given a generated image exists, when I click Download, then a JPEG with InteriorAI watermark is saved to my device.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1261872"/>
            <a:ext cx="3749039" cy="960120"/>
          </a:xfrm>
          <a:prstGeom prst="rect">
            <a:avLst/>
          </a:prstGeom>
          <a:solidFill>
            <a:srgbClr val="121B38"/>
          </a:solidFill>
          <a:ln w="1016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8" y="1261872"/>
            <a:ext cx="54864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3167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  <a:latin typeface="Calibri"/>
              </a:rPr>
              <a:t>US-008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1536192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As a user, I want to edit individual furniture items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1837943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8E8"/>
                </a:solidFill>
                <a:latin typeface="Calibri"/>
              </a:rPr>
              <a:t>AC: Given a styled image, when I click an object chip and submit a description, then only that object changes.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6176" y="1261872"/>
            <a:ext cx="3749039" cy="960120"/>
          </a:xfrm>
          <a:prstGeom prst="rect">
            <a:avLst/>
          </a:prstGeom>
          <a:solidFill>
            <a:srgbClr val="121B38"/>
          </a:solidFill>
          <a:ln w="1016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66176" y="1261872"/>
            <a:ext cx="54864" cy="96012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3336" y="13167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800"/>
                </a:solidFill>
                <a:latin typeface="Calibri"/>
              </a:rPr>
              <a:t>US-009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1536192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As a user, I want to choose a color palette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3336" y="1837943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8E8"/>
                </a:solidFill>
                <a:latin typeface="Calibri"/>
              </a:rPr>
              <a:t>AC: Given I select a color palette, when I generate, then the AI incorporates those colors in the design.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017520"/>
            <a:ext cx="3749039" cy="960120"/>
          </a:xfrm>
          <a:prstGeom prst="rect">
            <a:avLst/>
          </a:prstGeom>
          <a:solidFill>
            <a:srgbClr val="121B38"/>
          </a:solidFill>
          <a:ln w="1016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017520"/>
            <a:ext cx="54864" cy="96012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30723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800"/>
                </a:solidFill>
                <a:latin typeface="Calibri"/>
              </a:rPr>
              <a:t>US-010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329183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As a user, I want to write a custom style description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3593591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8E8"/>
                </a:solidFill>
                <a:latin typeface="Calibri"/>
              </a:rPr>
              <a:t>AC: Given I enter text in the custom prompt field, when I generate, then the AI uses my description.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0248" y="3017520"/>
            <a:ext cx="3749039" cy="960120"/>
          </a:xfrm>
          <a:prstGeom prst="rect">
            <a:avLst/>
          </a:prstGeom>
          <a:solidFill>
            <a:srgbClr val="121B38"/>
          </a:solidFill>
          <a:ln w="1016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0248" y="3017520"/>
            <a:ext cx="54864" cy="96012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07408" y="30723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6D"/>
                </a:solidFill>
                <a:latin typeface="Calibri"/>
              </a:rPr>
              <a:t>US-011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7408" y="329183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As a user, I want to preview all 8 styles at once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8" y="3593591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8E8"/>
                </a:solidFill>
                <a:latin typeface="Calibri"/>
              </a:rPr>
              <a:t>AC: Given I click Preview All Styles, then thumbnails of all 8 styles are displayed within 10 minutes.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66176" y="3017520"/>
            <a:ext cx="3749039" cy="960120"/>
          </a:xfrm>
          <a:prstGeom prst="rect">
            <a:avLst/>
          </a:prstGeom>
          <a:solidFill>
            <a:srgbClr val="121B38"/>
          </a:solidFill>
          <a:ln w="1016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66176" y="3017520"/>
            <a:ext cx="54864" cy="96012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03336" y="30723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6D"/>
                </a:solidFill>
                <a:latin typeface="Calibri"/>
              </a:rPr>
              <a:t>US-012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3336" y="329183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As a user, I want to furnish an empty room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3336" y="3593591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8E8"/>
                </a:solidFill>
                <a:latin typeface="Calibri"/>
              </a:rPr>
              <a:t>AC: Given I select Furnish Room, pick room type and furniture, when I generate, then the room shows those items placed naturally.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773168"/>
            <a:ext cx="3749039" cy="960120"/>
          </a:xfrm>
          <a:prstGeom prst="rect">
            <a:avLst/>
          </a:prstGeom>
          <a:solidFill>
            <a:srgbClr val="121B38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4773168"/>
            <a:ext cx="54864" cy="9601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79" y="482803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US-013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79" y="5047488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As a user, I want to view my generation history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79" y="5349240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8E8"/>
                </a:solidFill>
                <a:latin typeface="Calibri"/>
              </a:rPr>
              <a:t>AC: Given I press Ctrl+H, then the last 8 generated designs are shown and I can restore any.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4773168"/>
            <a:ext cx="3749039" cy="960120"/>
          </a:xfrm>
          <a:prstGeom prst="rect">
            <a:avLst/>
          </a:prstGeom>
          <a:solidFill>
            <a:srgbClr val="121B38"/>
          </a:solidFill>
          <a:ln w="10160">
            <a:solidFill>
              <a:srgbClr val="9B5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70248" y="4773168"/>
            <a:ext cx="54864" cy="960120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07408" y="482803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DF5"/>
                </a:solidFill>
                <a:latin typeface="Calibri"/>
              </a:rPr>
              <a:t>US-014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07408" y="5047488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As a user, I want to undo my last object edit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07408" y="5349240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8E8"/>
                </a:solidFill>
                <a:latin typeface="Calibri"/>
              </a:rPr>
              <a:t>AC: Given I made an object edit, when I press Ctrl+Z, then the image reverts to the pre-edit version.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66176" y="4773168"/>
            <a:ext cx="3749039" cy="960120"/>
          </a:xfrm>
          <a:prstGeom prst="rect">
            <a:avLst/>
          </a:prstGeom>
          <a:solidFill>
            <a:srgbClr val="121B38"/>
          </a:solidFill>
          <a:ln w="1016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66176" y="4773168"/>
            <a:ext cx="54864" cy="96012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03336" y="482803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76"/>
                </a:solidFill>
                <a:latin typeface="Calibri"/>
              </a:rPr>
              <a:t>US-015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03336" y="5047488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As a user, I want to share the generated design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03336" y="5349240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8E8"/>
                </a:solidFill>
                <a:latin typeface="Calibri"/>
              </a:rPr>
              <a:t>AC: Given a generated image exists, when I click Share, then a share caption is copied to my clipboard.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Sprint Summary — Sprint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Foundation: Auth, Upload, Style Selection &amp; Core Generation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41148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0A0E27"/>
                </a:solidFill>
                <a:latin typeface="Calibri"/>
              </a:rPr>
              <a:t>Sprint 1: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828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8"/>
                </a:solidFill>
                <a:latin typeface="Calibri"/>
              </a:rPr>
              <a:t>Goal: Build the core MVP — working upload, style selection, and AI generation pipeline.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31720"/>
            <a:ext cx="7132320" cy="457200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331720"/>
            <a:ext cx="4572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386584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US-001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38658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User Registration (email)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3865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800"/>
                </a:solidFill>
                <a:latin typeface="Calibri"/>
              </a:rPr>
              <a:t>5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38658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43784"/>
            <a:ext cx="7132320" cy="45720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843784"/>
            <a:ext cx="4572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89864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US-002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89864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Google OAuth 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8986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800"/>
                </a:solidFill>
                <a:latin typeface="Calibri"/>
              </a:rPr>
              <a:t>3 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89864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355848"/>
            <a:ext cx="7132320" cy="457200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355848"/>
            <a:ext cx="45720" cy="457200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41071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DF5"/>
                </a:solidFill>
                <a:latin typeface="Calibri"/>
              </a:rPr>
              <a:t>US-003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4107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Room Photo Upload (drag-drop)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4107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800"/>
                </a:solidFill>
                <a:latin typeface="Calibri"/>
              </a:rPr>
              <a:t>5 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41071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867912"/>
            <a:ext cx="7132320" cy="45720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867912"/>
            <a:ext cx="45720" cy="457200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922776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DF5"/>
                </a:solidFill>
                <a:latin typeface="Calibri"/>
              </a:rPr>
              <a:t>US-004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392277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8 Design Style Cards 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392277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800"/>
                </a:solidFill>
                <a:latin typeface="Calibri"/>
              </a:rPr>
              <a:t>3 pts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392277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379976"/>
            <a:ext cx="7132320" cy="457200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4379976"/>
            <a:ext cx="45720" cy="45720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43484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76"/>
                </a:solidFill>
                <a:latin typeface="Calibri"/>
              </a:rPr>
              <a:t>US-005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44348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AI Image Generation (Replicate)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4348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800"/>
                </a:solidFill>
                <a:latin typeface="Calibri"/>
              </a:rPr>
              <a:t>8 pts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443484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892040"/>
            <a:ext cx="7132320" cy="45720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4892040"/>
            <a:ext cx="45720" cy="45720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946903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76"/>
                </a:solidFill>
                <a:latin typeface="Calibri"/>
              </a:rPr>
              <a:t>US-006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4946903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Before/After Compare Slider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4946903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800"/>
                </a:solidFill>
                <a:latin typeface="Calibri"/>
              </a:rPr>
              <a:t>3 pts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4946903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404104"/>
            <a:ext cx="7132320" cy="457200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5404104"/>
            <a:ext cx="4572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545896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  <a:latin typeface="Calibri"/>
              </a:rPr>
              <a:t>US-007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34440" y="545896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Download with Watermark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54589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800"/>
                </a:solidFill>
                <a:latin typeface="Calibri"/>
              </a:rPr>
              <a:t>3 pts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60" y="545896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63840" y="2331720"/>
            <a:ext cx="3977639" cy="896112"/>
          </a:xfrm>
          <a:prstGeom prst="rect">
            <a:avLst/>
          </a:prstGeom>
          <a:solidFill>
            <a:srgbClr val="121B38"/>
          </a:solidFill>
          <a:ln w="1270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863840" y="2331720"/>
            <a:ext cx="3977639" cy="54864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55279" y="2514600"/>
            <a:ext cx="379475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800"/>
                </a:solidFill>
                <a:latin typeface="Calibri"/>
              </a:rPr>
              <a:t>30 pts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79" y="2824581"/>
            <a:ext cx="3794759" cy="358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8E8"/>
                </a:solidFill>
                <a:latin typeface="Calibri"/>
              </a:rPr>
              <a:t>Committed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00415" y="3383279"/>
            <a:ext cx="3977639" cy="896112"/>
          </a:xfrm>
          <a:prstGeom prst="rect">
            <a:avLst/>
          </a:prstGeom>
          <a:solidFill>
            <a:srgbClr val="121B38"/>
          </a:solidFill>
          <a:ln w="127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900415" y="3383279"/>
            <a:ext cx="3977639" cy="54864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91855" y="3566160"/>
            <a:ext cx="379475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E576"/>
                </a:solidFill>
                <a:latin typeface="Calibri"/>
              </a:rPr>
              <a:t>27 pts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91855" y="3876141"/>
            <a:ext cx="3794759" cy="358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8E8"/>
                </a:solidFill>
                <a:latin typeface="Calibri"/>
              </a:rPr>
              <a:t>Completed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36992" y="4434840"/>
            <a:ext cx="3977639" cy="896112"/>
          </a:xfrm>
          <a:prstGeom prst="rect">
            <a:avLst/>
          </a:prstGeom>
          <a:solidFill>
            <a:srgbClr val="121B38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936992" y="4434840"/>
            <a:ext cx="397763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28431" y="4617720"/>
            <a:ext cx="379475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D4FF"/>
                </a:solidFill>
                <a:latin typeface="Calibri"/>
              </a:rPr>
              <a:t>27 pts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28431" y="4927701"/>
            <a:ext cx="3794759" cy="358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8E8"/>
                </a:solidFill>
                <a:latin typeface="Calibri"/>
              </a:rPr>
              <a:t>Velocity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73567" y="5486400"/>
            <a:ext cx="3977639" cy="896112"/>
          </a:xfrm>
          <a:prstGeom prst="rect">
            <a:avLst/>
          </a:prstGeom>
          <a:solidFill>
            <a:srgbClr val="121B38"/>
          </a:solidFill>
          <a:ln w="127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973567" y="5486400"/>
            <a:ext cx="3977639" cy="54864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65007" y="5669280"/>
            <a:ext cx="379475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E576"/>
                </a:solidFill>
                <a:latin typeface="Calibri"/>
              </a:rPr>
              <a:t>90%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65007" y="5979261"/>
            <a:ext cx="3794759" cy="358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8E8"/>
                </a:solidFill>
                <a:latin typeface="Calibri"/>
              </a:rPr>
              <a:t>C/C Ratio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Sprint Summary — 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Customization: Color Palettes, Custom Prompts, History &amp; Preview 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4389120" cy="457200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Sprint 2: Customization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828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8"/>
                </a:solidFill>
                <a:latin typeface="Calibri"/>
              </a:rPr>
              <a:t>Goal: Add customization features and improve AI generation quality &amp; UX.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31720"/>
            <a:ext cx="7132320" cy="420624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331720"/>
            <a:ext cx="45720" cy="420624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377439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B5DF5"/>
                </a:solidFill>
                <a:latin typeface="Calibri"/>
              </a:rPr>
              <a:t>US-009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377439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Color Palette Selector (8 themes)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37743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C800"/>
                </a:solidFill>
                <a:latin typeface="Calibri"/>
              </a:rPr>
              <a:t>5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377439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07208"/>
            <a:ext cx="7132320" cy="420624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807208"/>
            <a:ext cx="45720" cy="42062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852927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6B35"/>
                </a:solidFill>
                <a:latin typeface="Calibri"/>
              </a:rPr>
              <a:t>US-010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852927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Custom Style Prompt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852927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C800"/>
                </a:solidFill>
                <a:latin typeface="Calibri"/>
              </a:rPr>
              <a:t>5 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852927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282696"/>
            <a:ext cx="7132320" cy="420624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282696"/>
            <a:ext cx="45720" cy="420624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328415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E576"/>
                </a:solidFill>
                <a:latin typeface="Calibri"/>
              </a:rPr>
              <a:t>US-011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328415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Preview All 8 Styles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328415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C800"/>
                </a:solidFill>
                <a:latin typeface="Calibri"/>
              </a:rPr>
              <a:t>8 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328415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758183"/>
            <a:ext cx="7132320" cy="420624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758183"/>
            <a:ext cx="45720" cy="42062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803903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  <a:latin typeface="Calibri"/>
              </a:rPr>
              <a:t>US-013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3803903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Generation History (localStorage)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3803903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C800"/>
                </a:solidFill>
                <a:latin typeface="Calibri"/>
              </a:rPr>
              <a:t>5 pts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3803903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233672"/>
            <a:ext cx="7132320" cy="420624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4233672"/>
            <a:ext cx="45720" cy="420624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27939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C800"/>
                </a:solidFill>
                <a:latin typeface="Calibri"/>
              </a:rPr>
              <a:t>US-015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4279392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Share Caption + Clipboard Copy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42793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C800"/>
                </a:solidFill>
                <a:latin typeface="Calibri"/>
              </a:rPr>
              <a:t>3 pts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42793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709160"/>
            <a:ext cx="7132320" cy="420624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4709160"/>
            <a:ext cx="45720" cy="42062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75488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  <a:latin typeface="Calibri"/>
              </a:rPr>
              <a:t>TECH-01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475488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Firebase Firestore Colab URL Sync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4754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C800"/>
                </a:solidFill>
                <a:latin typeface="Calibri"/>
              </a:rPr>
              <a:t>8 pts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47548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184648"/>
            <a:ext cx="7132320" cy="420624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5184648"/>
            <a:ext cx="45720" cy="420624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523036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4D6D"/>
                </a:solidFill>
                <a:latin typeface="Calibri"/>
              </a:rPr>
              <a:t>TECH-02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25880" y="5230368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Toast Notification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52303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C800"/>
                </a:solidFill>
                <a:latin typeface="Calibri"/>
              </a:rPr>
              <a:t>3 pts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60" y="523036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660136"/>
            <a:ext cx="7132320" cy="420624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74320" y="5660136"/>
            <a:ext cx="45720" cy="420624"/>
          </a:xfrm>
          <a:prstGeom prst="rect">
            <a:avLst/>
          </a:prstGeom>
          <a:solidFill>
            <a:srgbClr val="6A8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5705855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A8CB8"/>
                </a:solidFill>
                <a:latin typeface="Calibri"/>
              </a:rPr>
              <a:t>TECH-03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25880" y="5705855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BackendSetup Config Popup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80760" y="5705855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C800"/>
                </a:solidFill>
                <a:latin typeface="Calibri"/>
              </a:rPr>
              <a:t>3 pts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5160" y="5705855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63840" y="2331720"/>
            <a:ext cx="3977639" cy="896112"/>
          </a:xfrm>
          <a:prstGeom prst="rect">
            <a:avLst/>
          </a:prstGeom>
          <a:solidFill>
            <a:srgbClr val="121B38"/>
          </a:solidFill>
          <a:ln w="1270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863840" y="2331720"/>
            <a:ext cx="3977639" cy="54864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55279" y="2514600"/>
            <a:ext cx="379475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800"/>
                </a:solidFill>
                <a:latin typeface="Calibri"/>
              </a:rPr>
              <a:t>40 pts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79" y="2824581"/>
            <a:ext cx="3794759" cy="358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8E8"/>
                </a:solidFill>
                <a:latin typeface="Calibri"/>
              </a:rPr>
              <a:t>Committed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63840" y="3383279"/>
            <a:ext cx="3977639" cy="896112"/>
          </a:xfrm>
          <a:prstGeom prst="rect">
            <a:avLst/>
          </a:prstGeom>
          <a:solidFill>
            <a:srgbClr val="121B38"/>
          </a:solidFill>
          <a:ln w="127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863840" y="3383279"/>
            <a:ext cx="3977639" cy="54864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55279" y="3566160"/>
            <a:ext cx="379475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E576"/>
                </a:solidFill>
                <a:latin typeface="Calibri"/>
              </a:rPr>
              <a:t>36 pts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55279" y="3876141"/>
            <a:ext cx="3794759" cy="358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8E8"/>
                </a:solidFill>
                <a:latin typeface="Calibri"/>
              </a:rPr>
              <a:t>Completed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63840" y="4434840"/>
            <a:ext cx="3977639" cy="896112"/>
          </a:xfrm>
          <a:prstGeom prst="rect">
            <a:avLst/>
          </a:prstGeom>
          <a:solidFill>
            <a:srgbClr val="121B38"/>
          </a:solidFill>
          <a:ln w="12700">
            <a:solidFill>
              <a:srgbClr val="9B5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863840" y="4434840"/>
            <a:ext cx="3977639" cy="54864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55279" y="4617720"/>
            <a:ext cx="379475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9B5DF5"/>
                </a:solidFill>
                <a:latin typeface="Calibri"/>
              </a:rPr>
              <a:t>36 pts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4927701"/>
            <a:ext cx="3794759" cy="358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8E8"/>
                </a:solidFill>
                <a:latin typeface="Calibri"/>
              </a:rPr>
              <a:t>Velocity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63840" y="5486400"/>
            <a:ext cx="3977639" cy="896112"/>
          </a:xfrm>
          <a:prstGeom prst="rect">
            <a:avLst/>
          </a:prstGeom>
          <a:solidFill>
            <a:srgbClr val="121B38"/>
          </a:solidFill>
          <a:ln w="127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863840" y="5486400"/>
            <a:ext cx="3977639" cy="54864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55279" y="5669280"/>
            <a:ext cx="379475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E576"/>
                </a:solidFill>
                <a:latin typeface="Calibri"/>
              </a:rPr>
              <a:t>90%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55279" y="5979261"/>
            <a:ext cx="3794759" cy="358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8E8"/>
                </a:solidFill>
                <a:latin typeface="Calibri"/>
              </a:rPr>
              <a:t>C/C Ratio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Sprint Summary — Sprint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Advanced AI: ControlNet, Object Editing, FurnishRoom, StyleComparison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4114800" cy="45720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0A0E27"/>
                </a:solidFill>
                <a:latin typeface="Calibri"/>
              </a:rPr>
              <a:t>Sprint 3: Advanced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8288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8"/>
                </a:solidFill>
                <a:latin typeface="Calibri"/>
              </a:rPr>
              <a:t>Goal: Implement advanced AI features — structure preservation, object-level editing, and room furnishing.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31720"/>
            <a:ext cx="7132320" cy="457200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331720"/>
            <a:ext cx="4572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386584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6B35"/>
                </a:solidFill>
                <a:latin typeface="Calibri"/>
              </a:rPr>
              <a:t>US-008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38658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Object Editor — YOLOv8 + SAM + Inpainting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3865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800"/>
                </a:solidFill>
                <a:latin typeface="Calibri"/>
              </a:rPr>
              <a:t>13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38658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43784"/>
            <a:ext cx="7132320" cy="45720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843784"/>
            <a:ext cx="45720" cy="45720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89864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E576"/>
                </a:solidFill>
                <a:latin typeface="Calibri"/>
              </a:rPr>
              <a:t>US-012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89864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FurnishRoom Feature (5 types, 25+ items)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8986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800"/>
                </a:solidFill>
                <a:latin typeface="Calibri"/>
              </a:rPr>
              <a:t>8 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89864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355848"/>
            <a:ext cx="7132320" cy="457200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355848"/>
            <a:ext cx="4572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410712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  <a:latin typeface="Calibri"/>
              </a:rPr>
              <a:t>US-014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4107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Undo Last Edit (Ctrl+Z)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4107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800"/>
                </a:solidFill>
                <a:latin typeface="Calibri"/>
              </a:rPr>
              <a:t>3 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41071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867912"/>
            <a:ext cx="7132320" cy="45720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867912"/>
            <a:ext cx="4572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922776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  <a:latin typeface="Calibri"/>
              </a:rPr>
              <a:t>TECH-04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392277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ControlNet + Canny Edge 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392277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800"/>
                </a:solidFill>
                <a:latin typeface="Calibri"/>
              </a:rPr>
              <a:t>13 pts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392277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379976"/>
            <a:ext cx="7132320" cy="457200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4379976"/>
            <a:ext cx="45720" cy="457200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434840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B5DF5"/>
                </a:solidFill>
                <a:latin typeface="Calibri"/>
              </a:rPr>
              <a:t>TECH-05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44348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StyleComparison 3-Panel Component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44348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800"/>
                </a:solidFill>
                <a:latin typeface="Calibri"/>
              </a:rPr>
              <a:t>5 pts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443484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892040"/>
            <a:ext cx="7132320" cy="45720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4892040"/>
            <a:ext cx="45720" cy="4572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946903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C800"/>
                </a:solidFill>
                <a:latin typeface="Calibri"/>
              </a:rPr>
              <a:t>TECH-06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4946903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Error Handling Overhaul (all fetch calls)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4946903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800"/>
                </a:solidFill>
                <a:latin typeface="Calibri"/>
              </a:rPr>
              <a:t>5 pts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4946903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404104"/>
            <a:ext cx="7132320" cy="457200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5404104"/>
            <a:ext cx="45720" cy="45720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545896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4D6D"/>
                </a:solidFill>
                <a:latin typeface="Calibri"/>
              </a:rPr>
              <a:t>TECH-07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54589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Colab Health Status Format Fix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54589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800"/>
                </a:solidFill>
                <a:latin typeface="Calibri"/>
              </a:rPr>
              <a:t>3 pts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60" y="545896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63840" y="2331720"/>
            <a:ext cx="3977639" cy="896112"/>
          </a:xfrm>
          <a:prstGeom prst="rect">
            <a:avLst/>
          </a:prstGeom>
          <a:solidFill>
            <a:srgbClr val="121B38"/>
          </a:solidFill>
          <a:ln w="1270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863840" y="2331720"/>
            <a:ext cx="3977639" cy="54864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55279" y="2514600"/>
            <a:ext cx="379475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800"/>
                </a:solidFill>
                <a:latin typeface="Calibri"/>
              </a:rPr>
              <a:t>50 pts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79" y="2824581"/>
            <a:ext cx="3794759" cy="358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8E8"/>
                </a:solidFill>
                <a:latin typeface="Calibri"/>
              </a:rPr>
              <a:t>Committed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63840" y="3383279"/>
            <a:ext cx="3977639" cy="896112"/>
          </a:xfrm>
          <a:prstGeom prst="rect">
            <a:avLst/>
          </a:prstGeom>
          <a:solidFill>
            <a:srgbClr val="121B38"/>
          </a:solidFill>
          <a:ln w="127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63840" y="3383279"/>
            <a:ext cx="3977639" cy="54864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55279" y="3566160"/>
            <a:ext cx="379475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E576"/>
                </a:solidFill>
                <a:latin typeface="Calibri"/>
              </a:rPr>
              <a:t>50 pts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79" y="3876141"/>
            <a:ext cx="3794759" cy="358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8E8"/>
                </a:solidFill>
                <a:latin typeface="Calibri"/>
              </a:rPr>
              <a:t>Completed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63840" y="4434840"/>
            <a:ext cx="3977639" cy="896112"/>
          </a:xfrm>
          <a:prstGeom prst="rect">
            <a:avLst/>
          </a:prstGeom>
          <a:solidFill>
            <a:srgbClr val="121B38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863840" y="4434840"/>
            <a:ext cx="397763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55279" y="4617720"/>
            <a:ext cx="379475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D4FF"/>
                </a:solidFill>
                <a:latin typeface="Calibri"/>
              </a:rPr>
              <a:t>50 pts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5279" y="4927701"/>
            <a:ext cx="3794759" cy="358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8E8"/>
                </a:solidFill>
                <a:latin typeface="Calibri"/>
              </a:rPr>
              <a:t>Velocity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63840" y="5486400"/>
            <a:ext cx="3977639" cy="896112"/>
          </a:xfrm>
          <a:prstGeom prst="rect">
            <a:avLst/>
          </a:prstGeom>
          <a:solidFill>
            <a:srgbClr val="121B38"/>
          </a:solidFill>
          <a:ln w="127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863840" y="5486400"/>
            <a:ext cx="3977639" cy="54864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55279" y="5669280"/>
            <a:ext cx="379475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E576"/>
                </a:solidFill>
                <a:latin typeface="Calibri"/>
              </a:rPr>
              <a:t>100%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5279" y="5979261"/>
            <a:ext cx="3794759" cy="358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8E8"/>
                </a:solidFill>
                <a:latin typeface="Calibri"/>
              </a:rPr>
              <a:t>C/C Ratio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Sprint 4 Backlog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Stories Committed for Sprint 4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5029200" cy="4572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0A0E27"/>
                </a:solidFill>
                <a:latin typeface="Calibri"/>
              </a:rPr>
              <a:t>Sprint 4: Polish &amp; Deployment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74519"/>
            <a:ext cx="11640312" cy="868680"/>
          </a:xfrm>
          <a:prstGeom prst="rect">
            <a:avLst/>
          </a:prstGeom>
          <a:solidFill>
            <a:srgbClr val="121B38"/>
          </a:solidFill>
          <a:ln w="762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74519"/>
            <a:ext cx="54864" cy="8686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9384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US-016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1929384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C800"/>
                </a:solidFill>
                <a:latin typeface="Calibri"/>
              </a:rPr>
              <a:t>8 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929384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As a user, I want to save favorite designs to my profile so I can access them on any device.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233172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8E8"/>
                </a:solidFill>
                <a:latin typeface="Calibri"/>
              </a:rPr>
              <a:t>AC: Given I click Save, when logged in, then design is stored in Firebase Firestore under my account.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834639"/>
            <a:ext cx="11640312" cy="868680"/>
          </a:xfrm>
          <a:prstGeom prst="rect">
            <a:avLst/>
          </a:prstGeom>
          <a:solidFill>
            <a:srgbClr val="121B38"/>
          </a:solidFill>
          <a:ln w="7620">
            <a:solidFill>
              <a:srgbClr val="9B5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834639"/>
            <a:ext cx="54864" cy="868680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89503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DF5"/>
                </a:solidFill>
                <a:latin typeface="Calibri"/>
              </a:rPr>
              <a:t>US-017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2889503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C800"/>
                </a:solidFill>
                <a:latin typeface="Calibri"/>
              </a:rPr>
              <a:t>8 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2889503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As a user, I want the app to work on mobile and tablet screens.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3291839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8E8"/>
                </a:solidFill>
                <a:latin typeface="Calibri"/>
              </a:rPr>
              <a:t>AC: Given I open the app on 375px wide screen, then all components stack and remain usable without overflow.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94760"/>
            <a:ext cx="11640312" cy="868680"/>
          </a:xfrm>
          <a:prstGeom prst="rect">
            <a:avLst/>
          </a:prstGeom>
          <a:solidFill>
            <a:srgbClr val="121B38"/>
          </a:solidFill>
          <a:ln w="762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794760"/>
            <a:ext cx="54864" cy="86868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849624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76"/>
                </a:solidFill>
                <a:latin typeface="Calibri"/>
              </a:rPr>
              <a:t>US-018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3849624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C800"/>
                </a:solidFill>
                <a:latin typeface="Calibri"/>
              </a:rPr>
              <a:t>8 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3849624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As a user, I want a shareable public link to my design.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425196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8E8"/>
                </a:solidFill>
                <a:latin typeface="Calibri"/>
              </a:rPr>
              <a:t>AC: Given I click Get Share Link, then a unique URL is generated that shows my design to anyone.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754880"/>
            <a:ext cx="11640312" cy="868680"/>
          </a:xfrm>
          <a:prstGeom prst="rect">
            <a:avLst/>
          </a:prstGeom>
          <a:solidFill>
            <a:srgbClr val="121B38"/>
          </a:solidFill>
          <a:ln w="762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754880"/>
            <a:ext cx="54864" cy="8686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809744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  <a:latin typeface="Calibri"/>
              </a:rPr>
              <a:t>TECH-08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4809744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C800"/>
                </a:solidFill>
                <a:latin typeface="Calibri"/>
              </a:rPr>
              <a:t>5 pts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" y="4809744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As a developer, I want the app to run 24/7 without Google Colab.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3312" y="521208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8E8"/>
                </a:solidFill>
                <a:latin typeface="Calibri"/>
              </a:rPr>
              <a:t>AC: Given Colab is not running, when I generate, then Replicate API handles request within 45 seconds.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715000"/>
            <a:ext cx="11640312" cy="868680"/>
          </a:xfrm>
          <a:prstGeom prst="rect">
            <a:avLst/>
          </a:prstGeom>
          <a:solidFill>
            <a:srgbClr val="121B38"/>
          </a:solidFill>
          <a:ln w="762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5715000"/>
            <a:ext cx="54864" cy="86868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769864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6D"/>
                </a:solidFill>
                <a:latin typeface="Calibri"/>
              </a:rPr>
              <a:t>TECH-09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5769864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C800"/>
                </a:solidFill>
                <a:latin typeface="Calibri"/>
              </a:rPr>
              <a:t>5 pts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3312" y="5769864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As a developer, I want comprehensive end-to-end tests for all 14 test cases.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53312" y="617220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8E8"/>
                </a:solidFill>
                <a:latin typeface="Calibri"/>
              </a:rPr>
              <a:t>AC: Given test suite runs, when all tests pass, then no regression in core features is detected.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800"/>
                </a:solidFill>
                <a:latin typeface="Calibri"/>
              </a:rPr>
              <a:t>Total Sprint 4 Committed: 34 story points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Test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Sprint 3 — Functional &amp; Security Test Scenarios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61872"/>
          <a:ext cx="1164031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052"/>
                <a:gridCol w="1940052"/>
                <a:gridCol w="1940052"/>
                <a:gridCol w="1940052"/>
                <a:gridCol w="1940052"/>
                <a:gridCol w="194005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C800"/>
                          </a:solidFill>
                          <a:latin typeface="Calibri"/>
                        </a:rPr>
                        <a:t>TC ID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C800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C800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C800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C800"/>
                          </a:solidFill>
                          <a:latin typeface="Calibri"/>
                        </a:rPr>
                        <a:t>Expected Output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C800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TC-001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Upload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Upload valid JPG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2MB JPEG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Preview shown, step advances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✅ Pass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TC-002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Upload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Upload invalid file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PDF file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Toast: 'Please upload an image'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✅ Pass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TC-003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Generate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Generate with Colab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Style=minimalist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Styled image returned 1-2min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✅ Pass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TC-004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Generate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No backend connected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No Colab/Replicate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Toast: 'No AI backend'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✅ Pass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TC-005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Google OAuth login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Click Google button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Logged in, user shown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✅ Pass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TC-006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Wrong password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Wrong credentials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Toast: 'Invalid email/password'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✅ Pass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TC-007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Edit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Edit sofa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sofa + velvet prompt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Only sofa changes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✅ Pass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TC-008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Undo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Undo last edit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Ctrl+Z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Reverts to pre-edit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✅ Pass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TC-009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History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View history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Ctrl+H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Last 8 designs shown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✅ Pass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TC-010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Download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Download watermark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Click Download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JPEG with watermark saved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✅ Pass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TC-011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Furnish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Generate furnished room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Living + sofa + lamp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Room with furniture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✅ Pass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TC-012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Preview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Preview all 8 styles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Click Preview All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8 thumbnails in &lt;10min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✅ Pass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TC-013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Firestore write w/o key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Write without secret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Rejected by rules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✅ Pass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TC-014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Responsive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Mobile view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375px viewport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No overflow, usable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B0C8E8"/>
                          </a:solidFill>
                          <a:latin typeface="Calibri"/>
                        </a:rPr>
                        <a:t>✅ Pass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Sprint 3 — Stories Completed &amp; Not 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Sprint Backlog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5669280" cy="50292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6187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  <a:latin typeface="Calibri"/>
              </a:rPr>
              <a:t>✅  STORIES COMPLETED (7/7)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74519"/>
            <a:ext cx="5669280" cy="548640"/>
          </a:xfrm>
          <a:prstGeom prst="rect">
            <a:avLst/>
          </a:prstGeom>
          <a:solidFill>
            <a:srgbClr val="061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6596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9659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76"/>
                </a:solidFill>
                <a:latin typeface="Calibri"/>
              </a:rPr>
              <a:t>US-008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9659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Object Editor — YOLOv8 + SAM + Inpainting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96596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FFC800"/>
                </a:solidFill>
                <a:latin typeface="Calibri"/>
              </a:rPr>
              <a:t>13 pts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478024"/>
            <a:ext cx="5669280" cy="548640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69464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56946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76"/>
                </a:solidFill>
                <a:latin typeface="Calibri"/>
              </a:rPr>
              <a:t>US-012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5694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FurnishRoom Feature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569464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FFC800"/>
                </a:solidFill>
                <a:latin typeface="Calibri"/>
              </a:rPr>
              <a:t>8 pts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081528"/>
            <a:ext cx="5669280" cy="548640"/>
          </a:xfrm>
          <a:prstGeom prst="rect">
            <a:avLst/>
          </a:prstGeom>
          <a:solidFill>
            <a:srgbClr val="061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17296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1729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76"/>
                </a:solidFill>
                <a:latin typeface="Calibri"/>
              </a:rPr>
              <a:t>US-014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1729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Undo Last Edit (Ctrl+Z)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17296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FFC800"/>
                </a:solidFill>
                <a:latin typeface="Calibri"/>
              </a:rPr>
              <a:t>3 pts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685031"/>
            <a:ext cx="5669280" cy="548640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776471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3776471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76"/>
                </a:solidFill>
                <a:latin typeface="Calibri"/>
              </a:rPr>
              <a:t>TECH-04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377647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ControlNet + Canny Edge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776471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FFC800"/>
                </a:solidFill>
                <a:latin typeface="Calibri"/>
              </a:rPr>
              <a:t>13 pts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288536"/>
            <a:ext cx="5669280" cy="548640"/>
          </a:xfrm>
          <a:prstGeom prst="rect">
            <a:avLst/>
          </a:prstGeom>
          <a:solidFill>
            <a:srgbClr val="061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379975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379975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76"/>
                </a:solidFill>
                <a:latin typeface="Calibri"/>
              </a:rPr>
              <a:t>TECH-05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3080" y="437997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StyleComparison 3-Panel Component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4379975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FFC800"/>
                </a:solidFill>
                <a:latin typeface="Calibri"/>
              </a:rPr>
              <a:t>5 pts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892040"/>
            <a:ext cx="5669280" cy="548640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983479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4983479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76"/>
                </a:solidFill>
                <a:latin typeface="Calibri"/>
              </a:rPr>
              <a:t>TECH-06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83080" y="498347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Error Handling Overhaul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498347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FFC800"/>
                </a:solidFill>
                <a:latin typeface="Calibri"/>
              </a:rPr>
              <a:t>5 pts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495544"/>
            <a:ext cx="5669280" cy="548640"/>
          </a:xfrm>
          <a:prstGeom prst="rect">
            <a:avLst/>
          </a:prstGeom>
          <a:solidFill>
            <a:srgbClr val="061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586983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  <a:latin typeface="Calibri"/>
              </a:rPr>
              <a:t>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" y="5586983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76"/>
                </a:solidFill>
                <a:latin typeface="Calibri"/>
              </a:rPr>
              <a:t>TECH-07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83080" y="5586983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Colab Health Status Fix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586983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FFC800"/>
                </a:solidFill>
                <a:latin typeface="Calibri"/>
              </a:rPr>
              <a:t>3 pts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1261872"/>
            <a:ext cx="5650992" cy="50292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1261872"/>
            <a:ext cx="5650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⏸  STORIES NOT COMPLETED (0)</a:t>
            </a:r>
          </a:p>
        </p:txBody>
      </p:sp>
      <p:sp>
        <p:nvSpPr>
          <p:cNvPr id="46" name="Oval 45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0" y="27432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0" b="1" i="0">
                <a:solidFill>
                  <a:srgbClr val="0A0E27"/>
                </a:solidFill>
                <a:latin typeface="Calibri"/>
              </a:rPr>
              <a:t>100%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4160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576"/>
                </a:solidFill>
                <a:latin typeface="Calibri"/>
              </a:rPr>
              <a:t>All Sprint 3 stories completed!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7548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0C8E8"/>
                </a:solidFill>
                <a:latin typeface="Calibri"/>
              </a:rPr>
              <a:t>Zero stories carried over to Sprint 4.
Team achieved 100% Completed/Committed ratio.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Metrics — Team Velocity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Story Points Completed per Sprint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2743200" cy="1463040"/>
          </a:xfrm>
          <a:prstGeom prst="rect">
            <a:avLst/>
          </a:prstGeom>
          <a:solidFill>
            <a:srgbClr val="121B38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2743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44751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D4FF"/>
                </a:solidFill>
                <a:latin typeface="Calibri"/>
              </a:rPr>
              <a:t>27 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66543"/>
            <a:ext cx="2560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8E8"/>
                </a:solidFill>
                <a:latin typeface="Calibri"/>
              </a:rPr>
              <a:t>Sprint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1" y="1261872"/>
            <a:ext cx="2743200" cy="1463040"/>
          </a:xfrm>
          <a:prstGeom prst="rect">
            <a:avLst/>
          </a:prstGeom>
          <a:solidFill>
            <a:srgbClr val="121B38"/>
          </a:solidFill>
          <a:ln w="12700">
            <a:solidFill>
              <a:srgbClr val="9B5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73551" y="1261872"/>
            <a:ext cx="2743200" cy="54864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1" y="1444751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9B5DF5"/>
                </a:solidFill>
                <a:latin typeface="Calibri"/>
              </a:rPr>
              <a:t>36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1" y="2066543"/>
            <a:ext cx="2560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8E8"/>
                </a:solidFill>
                <a:latin typeface="Calibri"/>
              </a:rPr>
              <a:t>Sprint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2783" y="1261872"/>
            <a:ext cx="2743200" cy="1463040"/>
          </a:xfrm>
          <a:prstGeom prst="rect">
            <a:avLst/>
          </a:prstGeom>
          <a:solidFill>
            <a:srgbClr val="121B38"/>
          </a:solidFill>
          <a:ln w="127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2783" y="1261872"/>
            <a:ext cx="2743200" cy="54864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3" y="1444751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E576"/>
                </a:solidFill>
                <a:latin typeface="Calibri"/>
              </a:rPr>
              <a:t>50 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3" y="2066543"/>
            <a:ext cx="2560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8E8"/>
                </a:solidFill>
                <a:latin typeface="Calibri"/>
              </a:rPr>
              <a:t>Sprint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72016" y="1261872"/>
            <a:ext cx="2743200" cy="1463040"/>
          </a:xfrm>
          <a:prstGeom prst="rect">
            <a:avLst/>
          </a:prstGeom>
          <a:solidFill>
            <a:srgbClr val="121B38"/>
          </a:solidFill>
          <a:ln w="1270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72016" y="1261872"/>
            <a:ext cx="2743200" cy="54864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63456" y="1444751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800"/>
                </a:solidFill>
                <a:latin typeface="Calibri"/>
              </a:rPr>
              <a:t>37.7 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2066543"/>
            <a:ext cx="2560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8E8"/>
                </a:solidFill>
                <a:latin typeface="Calibri"/>
              </a:rPr>
              <a:t>Historical Avg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017520"/>
            <a:ext cx="11640312" cy="3566160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3063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800"/>
                </a:solidFill>
                <a:latin typeface="Calibri"/>
              </a:rPr>
              <a:t>SPRINT VELOCITY CHART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4663440"/>
            <a:ext cx="1645920" cy="1234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3159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4FF"/>
                </a:solidFill>
                <a:latin typeface="Calibri"/>
              </a:rPr>
              <a:t>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5902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8CB8"/>
                </a:solidFill>
                <a:latin typeface="Calibri"/>
              </a:rPr>
              <a:t>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989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8E8"/>
                </a:solidFill>
                <a:latin typeface="Calibri"/>
              </a:rPr>
              <a:t>Sprint 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39" y="4251960"/>
            <a:ext cx="1645920" cy="1645919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39" y="39044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B5DF5"/>
                </a:solidFill>
                <a:latin typeface="Calibri"/>
              </a:rPr>
              <a:t>36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417880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8CB8"/>
                </a:solidFill>
                <a:latin typeface="Calibri"/>
              </a:rPr>
              <a:t>pts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5989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8E8"/>
                </a:solidFill>
                <a:latin typeface="Calibri"/>
              </a:rPr>
              <a:t>Sprint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3611880"/>
            <a:ext cx="1645920" cy="228600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32644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576"/>
                </a:solidFill>
                <a:latin typeface="Calibri"/>
              </a:rPr>
              <a:t>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353872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8CB8"/>
                </a:solidFill>
                <a:latin typeface="Calibri"/>
              </a:rPr>
              <a:t>pts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5989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8E8"/>
                </a:solidFill>
                <a:latin typeface="Calibri"/>
              </a:rPr>
              <a:t>Sprint 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88720" y="4175760"/>
            <a:ext cx="6858000" cy="36576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39928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800"/>
                </a:solidFill>
                <a:latin typeface="Calibri"/>
              </a:rPr>
              <a:t>Avg: 37.7 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4922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76"/>
                </a:solidFill>
                <a:latin typeface="Calibri"/>
              </a:rPr>
              <a:t>↑ Team velocity is consistently increasing each sprint — improving by 85% from Sprint 1 to Sprint 3.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Metrics — Sprint 3 Burndown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Remaining Story Points vs. Sprint Days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280160"/>
          <a:ext cx="11274552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3550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Flat period Days 3-4: ControlNet integration was more complex than estimated.
Recovered Day 5-9 — completed all 50 points by Day 9 (1 day early).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Metrics — Completed / Committed Ratio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Sprint Performance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11640312" cy="1627632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64008" cy="16276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Calibri"/>
              </a:rPr>
              <a:t>Sprint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5623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8"/>
                </a:solidFill>
                <a:latin typeface="Calibri"/>
              </a:rPr>
              <a:t>Completed: 27 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2199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8CB8"/>
                </a:solidFill>
                <a:latin typeface="Calibri"/>
              </a:rPr>
              <a:t>Committed: 30 pts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764792"/>
            <a:ext cx="7772400" cy="475488"/>
          </a:xfrm>
          <a:prstGeom prst="rect">
            <a:avLst/>
          </a:prstGeom>
          <a:solidFill>
            <a:srgbClr val="08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40" y="1764792"/>
            <a:ext cx="699516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44200" y="176479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00D4FF"/>
                </a:solidFill>
                <a:latin typeface="Calibri"/>
              </a:rPr>
              <a:t>90.0%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34086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8CB8"/>
                </a:solidFill>
                <a:latin typeface="Calibri"/>
              </a:rPr>
              <a:t>27 / 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044952"/>
            <a:ext cx="11640312" cy="1627632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044952"/>
            <a:ext cx="64008" cy="1627632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54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B5DF5"/>
                </a:solidFill>
                <a:latin typeface="Calibri"/>
              </a:rPr>
              <a:t>Sprint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6393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8"/>
                </a:solidFill>
                <a:latin typeface="Calibri"/>
              </a:rPr>
              <a:t>Completed: 36 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0050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8CB8"/>
                </a:solidFill>
                <a:latin typeface="Calibri"/>
              </a:rPr>
              <a:t>Committed: 40 pts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3547872"/>
            <a:ext cx="7772400" cy="475488"/>
          </a:xfrm>
          <a:prstGeom prst="rect">
            <a:avLst/>
          </a:prstGeom>
          <a:solidFill>
            <a:srgbClr val="08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34640" y="3547872"/>
            <a:ext cx="6995160" cy="475488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44200" y="354787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9B5DF5"/>
                </a:solidFill>
                <a:latin typeface="Calibri"/>
              </a:rPr>
              <a:t>90.0%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12394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8CB8"/>
                </a:solidFill>
                <a:latin typeface="Calibri"/>
              </a:rPr>
              <a:t>36 / 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828031"/>
            <a:ext cx="11640312" cy="1627632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828031"/>
            <a:ext cx="64008" cy="162763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93775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E576"/>
                </a:solidFill>
                <a:latin typeface="Calibri"/>
              </a:rPr>
              <a:t>Sprint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4223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8"/>
                </a:solidFill>
                <a:latin typeface="Calibri"/>
              </a:rPr>
              <a:t>Completed: 50 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78815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8CB8"/>
                </a:solidFill>
                <a:latin typeface="Calibri"/>
              </a:rPr>
              <a:t>Committed: 50 pts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5330951"/>
            <a:ext cx="7772400" cy="475488"/>
          </a:xfrm>
          <a:prstGeom prst="rect">
            <a:avLst/>
          </a:prstGeom>
          <a:solidFill>
            <a:srgbClr val="08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34640" y="5330951"/>
            <a:ext cx="7772400" cy="475488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44200" y="5330951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00E576"/>
                </a:solidFill>
                <a:latin typeface="Calibri"/>
              </a:rPr>
              <a:t>100.0%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590702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8CB8"/>
                </a:solidFill>
                <a:latin typeface="Calibri"/>
              </a:rPr>
              <a:t>50 / 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6492240"/>
            <a:ext cx="11640312" cy="347472"/>
          </a:xfrm>
          <a:prstGeom prst="rect">
            <a:avLst/>
          </a:prstGeom>
          <a:solidFill>
            <a:srgbClr val="061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510528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576"/>
                </a:solidFill>
                <a:latin typeface="Calibri"/>
              </a:rPr>
              <a:t>✅  Team's average Completed/Committed ratio: 93.3%  •  Sprint 3 achieved perfect 100%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Retrospective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Sprint 3 — What Went Well, What to Improve, Action Items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3703320" cy="45720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61872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E27"/>
                </a:solidFill>
                <a:latin typeface="Calibri"/>
              </a:rPr>
              <a:t>👍  WHAT WENT WELL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3703320" cy="713232"/>
          </a:xfrm>
          <a:prstGeom prst="rect">
            <a:avLst/>
          </a:prstGeom>
          <a:solidFill>
            <a:srgbClr val="061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901952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✅  ControlNet integration worked better than expected — room structure preserved perfectly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33472"/>
            <a:ext cx="3703320" cy="713232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706624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✅  Complete 100% Completed/Committed ratio — all 7 stories finished in Sprint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438144"/>
            <a:ext cx="3703320" cy="713232"/>
          </a:xfrm>
          <a:prstGeom prst="rect">
            <a:avLst/>
          </a:prstGeom>
          <a:solidFill>
            <a:srgbClr val="061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511296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✅  Firebase auto-connect eliminated manual URL setup — zero configuration for users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242816"/>
            <a:ext cx="3703320" cy="713232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4315968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✅  Toast notification system improved UX significantly — no more browser alert() popups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47488"/>
            <a:ext cx="3703320" cy="713232"/>
          </a:xfrm>
          <a:prstGeom prst="rect">
            <a:avLst/>
          </a:prstGeom>
          <a:solidFill>
            <a:srgbClr val="061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5120640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✅  Team communication was consistent throughout the sprint — daily Discord standups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261872"/>
            <a:ext cx="370332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1261872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E27"/>
                </a:solidFill>
                <a:latin typeface="Calibri"/>
              </a:rPr>
              <a:t>🔧  WHAT TO IMPROVE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828800"/>
            <a:ext cx="3703320" cy="713232"/>
          </a:xfrm>
          <a:prstGeom prst="rect">
            <a:avLst/>
          </a:prstGeom>
          <a:solidFill>
            <a:srgbClr val="1A0E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1901952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⚠  User story template consistency — some stories in Sprint 2 missing full AC (fixed in Sprint 3)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2633472"/>
            <a:ext cx="3703320" cy="713232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15968" y="2706624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⚠  Repo organization — code directory structure needs clearer grouping (improving for Sprint 4)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438144"/>
            <a:ext cx="3703320" cy="713232"/>
          </a:xfrm>
          <a:prstGeom prst="rect">
            <a:avLst/>
          </a:prstGeom>
          <a:solidFill>
            <a:srgbClr val="1A0E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3511296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⚠  Time estimation — ControlNet integration took 2 more days than estimated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4242816"/>
            <a:ext cx="3703320" cy="713232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5968" y="4315968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8"/>
                </a:solidFill>
                <a:latin typeface="Calibri"/>
              </a:rPr>
              <a:t>⚠  Better task breakdown — large tasks (13pt) should be split into smaller sub-tasks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261872"/>
            <a:ext cx="3685032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1261872"/>
            <a:ext cx="3685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E27"/>
                </a:solidFill>
                <a:latin typeface="Calibri"/>
              </a:rPr>
              <a:t>📋  ACTION ITEMS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1828800"/>
            <a:ext cx="3685032" cy="1078992"/>
          </a:xfrm>
          <a:prstGeom prst="rect">
            <a:avLst/>
          </a:prstGeom>
          <a:solidFill>
            <a:srgbClr val="121B3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9327" y="188366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ALL stories follow template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7" y="23042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8CB8"/>
                </a:solidFill>
                <a:latin typeface="Calibri"/>
              </a:rPr>
              <a:t>Owner: All members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7" y="25786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4FF"/>
                </a:solidFill>
                <a:latin typeface="Calibri"/>
              </a:rPr>
              <a:t>Due: Sprint 4 Day 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2999232"/>
            <a:ext cx="3685032" cy="1078992"/>
          </a:xfrm>
          <a:prstGeom prst="rect">
            <a:avLst/>
          </a:prstGeom>
          <a:solidFill>
            <a:srgbClr val="121B3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9327" y="305409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Improve repo org + README dir 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3474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8CB8"/>
                </a:solidFill>
                <a:latin typeface="Calibri"/>
              </a:rPr>
              <a:t>Owner: Nirav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9327" y="3749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4FF"/>
                </a:solidFill>
                <a:latin typeface="Calibri"/>
              </a:rPr>
              <a:t>Due: Sprint 4 Day 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4169664"/>
            <a:ext cx="3685032" cy="1078992"/>
          </a:xfrm>
          <a:prstGeom prst="rect">
            <a:avLst/>
          </a:prstGeom>
          <a:solidFill>
            <a:srgbClr val="121B3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39327" y="422452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Break 8pt+ stories into sub-tasks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7" y="46451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8CB8"/>
                </a:solidFill>
                <a:latin typeface="Calibri"/>
              </a:rPr>
              <a:t>Owner: Scrum Master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9327" y="49194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4FF"/>
                </a:solidFill>
                <a:latin typeface="Calibri"/>
              </a:rPr>
              <a:t>Due: Before Sprint 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5340096"/>
            <a:ext cx="3685032" cy="1078992"/>
          </a:xfrm>
          <a:prstGeom prst="rect">
            <a:avLst/>
          </a:prstGeom>
          <a:solidFill>
            <a:srgbClr val="121B3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39327" y="5394959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Add mobile responsive CSS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7" y="5815583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8CB8"/>
                </a:solidFill>
                <a:latin typeface="Calibri"/>
              </a:rPr>
              <a:t>Owner: Frontend Dev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9327" y="60899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4FF"/>
                </a:solidFill>
                <a:latin typeface="Calibri"/>
              </a:rPr>
              <a:t>Due: Sprint 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Sprint 5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Stories Planned and Committed for Sprint 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50292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0A0E27"/>
                </a:solidFill>
                <a:latin typeface="Calibri"/>
              </a:rPr>
              <a:t>Sprint 5: Finalization &amp; Launch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74519"/>
            <a:ext cx="11640312" cy="740664"/>
          </a:xfrm>
          <a:prstGeom prst="rect">
            <a:avLst/>
          </a:prstGeom>
          <a:solidFill>
            <a:srgbClr val="121B38"/>
          </a:solidFill>
          <a:ln w="762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74519"/>
            <a:ext cx="54864" cy="7406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0239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  <a:latin typeface="Calibri"/>
              </a:rPr>
              <a:t>US-019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1920239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FFC800"/>
                </a:solidFill>
                <a:latin typeface="Calibri"/>
              </a:rPr>
              <a:t>8 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920239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Full Mobile Responsive UI for all screen sizes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2258568"/>
            <a:ext cx="9418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8E8"/>
                </a:solidFill>
                <a:latin typeface="Calibri"/>
              </a:rPr>
              <a:t>AC: Given app opens on 375px/768px screen, all features remain accessible with no horizontal scroll.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88336"/>
            <a:ext cx="11640312" cy="740664"/>
          </a:xfrm>
          <a:prstGeom prst="rect">
            <a:avLst/>
          </a:prstGeom>
          <a:solidFill>
            <a:srgbClr val="121B38"/>
          </a:solidFill>
          <a:ln w="762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688336"/>
            <a:ext cx="54864" cy="740664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34056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E576"/>
                </a:solidFill>
                <a:latin typeface="Calibri"/>
              </a:rPr>
              <a:t>US-020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2734056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FFC800"/>
                </a:solidFill>
                <a:latin typeface="Calibri"/>
              </a:rPr>
              <a:t>8 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2734056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User Cloud Save — designs stored in Firebase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3072384"/>
            <a:ext cx="9418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8E8"/>
                </a:solidFill>
                <a:latin typeface="Calibri"/>
              </a:rPr>
              <a:t>AC: Given I click Save, when logged in, then design is persisted and accessible on any device.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502152"/>
            <a:ext cx="11640312" cy="740664"/>
          </a:xfrm>
          <a:prstGeom prst="rect">
            <a:avLst/>
          </a:prstGeom>
          <a:solidFill>
            <a:srgbClr val="121B38"/>
          </a:solidFill>
          <a:ln w="7620">
            <a:solidFill>
              <a:srgbClr val="9B5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02152"/>
            <a:ext cx="54864" cy="740664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547872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B5DF5"/>
                </a:solidFill>
                <a:latin typeface="Calibri"/>
              </a:rPr>
              <a:t>US-021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3547872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FFC800"/>
                </a:solidFill>
                <a:latin typeface="Calibri"/>
              </a:rPr>
              <a:t>8 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3547872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Public shareable link to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3886200"/>
            <a:ext cx="9418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8E8"/>
                </a:solidFill>
                <a:latin typeface="Calibri"/>
              </a:rPr>
              <a:t>AC: Given I click Share Link, a unique URL shows my design to anyone without login.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315968"/>
            <a:ext cx="11640312" cy="740664"/>
          </a:xfrm>
          <a:prstGeom prst="rect">
            <a:avLst/>
          </a:prstGeom>
          <a:solidFill>
            <a:srgbClr val="121B38"/>
          </a:solidFill>
          <a:ln w="762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315968"/>
            <a:ext cx="54864" cy="7406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361688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6B35"/>
                </a:solidFill>
                <a:latin typeface="Calibri"/>
              </a:rPr>
              <a:t>TECH-10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4361688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FFC800"/>
                </a:solidFill>
                <a:latin typeface="Calibri"/>
              </a:rPr>
              <a:t>8 pts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" y="4361688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Full end-to-end automated test suite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3312" y="4700016"/>
            <a:ext cx="9418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8E8"/>
                </a:solidFill>
                <a:latin typeface="Calibri"/>
              </a:rPr>
              <a:t>AC: Given test suite runs, all 14+ test cases pass without manual intervention.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129783"/>
            <a:ext cx="11640312" cy="740664"/>
          </a:xfrm>
          <a:prstGeom prst="rect">
            <a:avLst/>
          </a:prstGeom>
          <a:solidFill>
            <a:srgbClr val="121B38"/>
          </a:solidFill>
          <a:ln w="762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5129783"/>
            <a:ext cx="54864" cy="740664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175503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C800"/>
                </a:solidFill>
                <a:latin typeface="Calibri"/>
              </a:rPr>
              <a:t>TECH-11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5175503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FFC800"/>
                </a:solidFill>
                <a:latin typeface="Calibri"/>
              </a:rPr>
              <a:t>5 pts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3312" y="5175503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Updated Technical Paper &amp; Deployment Manual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53312" y="5513831"/>
            <a:ext cx="9418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8E8"/>
                </a:solidFill>
                <a:latin typeface="Calibri"/>
              </a:rPr>
              <a:t>AC: Given a new developer clones the repo and follows the manual, they run the app in under 30 min.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943600"/>
            <a:ext cx="11640312" cy="740664"/>
          </a:xfrm>
          <a:prstGeom prst="rect">
            <a:avLst/>
          </a:prstGeom>
          <a:solidFill>
            <a:srgbClr val="121B38"/>
          </a:solidFill>
          <a:ln w="762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5943600"/>
            <a:ext cx="54864" cy="740664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98932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4D6D"/>
                </a:solidFill>
                <a:latin typeface="Calibri"/>
              </a:rPr>
              <a:t>TECH-12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5989320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FFC800"/>
                </a:solidFill>
                <a:latin typeface="Calibri"/>
              </a:rPr>
              <a:t>5 pts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53312" y="5989320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Final production deployment (Colab-free mode)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53312" y="6327648"/>
            <a:ext cx="9418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8E8"/>
                </a:solidFill>
                <a:latin typeface="Calibri"/>
              </a:rPr>
              <a:t>AC: Given Colab is off, app generates via Replicate API within 45 seconds reliably.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800"/>
                </a:solidFill>
                <a:latin typeface="Calibri"/>
              </a:rPr>
              <a:t>Total Sprint 5 Committed: 42 story points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Project Demo — Sprint 4 App Screenshots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Live Application Walkthrough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3749039" cy="2468880"/>
          </a:xfrm>
          <a:prstGeom prst="rect">
            <a:avLst/>
          </a:prstGeom>
          <a:solidFill>
            <a:srgbClr val="121B38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3749039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426463"/>
            <a:ext cx="3529584" cy="1508760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426463"/>
            <a:ext cx="352958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A8CB8"/>
                </a:solidFill>
                <a:latin typeface="Calibri"/>
              </a:rPr>
              <a:t>[ SCREENSHOT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039112"/>
            <a:ext cx="3529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3A5A80"/>
                </a:solidFill>
                <a:latin typeface="Calibri"/>
              </a:rPr>
              <a:t>📷  Add screenshot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999232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1. Login Screen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337560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A8CB8"/>
                </a:solidFill>
                <a:latin typeface="Calibri"/>
              </a:rPr>
              <a:t>Firebase Auth
Email + Google OAuth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1261872"/>
            <a:ext cx="3749039" cy="2468880"/>
          </a:xfrm>
          <a:prstGeom prst="rect">
            <a:avLst/>
          </a:prstGeom>
          <a:solidFill>
            <a:srgbClr val="121B38"/>
          </a:solidFill>
          <a:ln w="12700">
            <a:solidFill>
              <a:srgbClr val="9B5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1261872"/>
            <a:ext cx="3749039" cy="64008"/>
          </a:xfrm>
          <a:prstGeom prst="rect">
            <a:avLst/>
          </a:prstGeom>
          <a:solidFill>
            <a:srgbClr val="9B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9976" y="1426463"/>
            <a:ext cx="3529584" cy="1508760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9976" y="1426463"/>
            <a:ext cx="352958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A8CB8"/>
                </a:solidFill>
                <a:latin typeface="Calibri"/>
              </a:rPr>
              <a:t>[ SCREENSHOT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2039112"/>
            <a:ext cx="3529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3A5A80"/>
                </a:solidFill>
                <a:latin typeface="Calibri"/>
              </a:rPr>
              <a:t>📷  Add screenshot 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2999232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DF5"/>
                </a:solidFill>
                <a:latin typeface="Calibri"/>
              </a:rPr>
              <a:t>2. Upload Screen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3337560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A8CB8"/>
                </a:solidFill>
                <a:latin typeface="Calibri"/>
              </a:rPr>
              <a:t>Drag-drop zone
Room photo preview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66176" y="1261872"/>
            <a:ext cx="3749039" cy="2468880"/>
          </a:xfrm>
          <a:prstGeom prst="rect">
            <a:avLst/>
          </a:prstGeom>
          <a:solidFill>
            <a:srgbClr val="121B38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66176" y="1261872"/>
            <a:ext cx="3749039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75904" y="1426463"/>
            <a:ext cx="3529584" cy="1508760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1426463"/>
            <a:ext cx="352958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A8CB8"/>
                </a:solidFill>
                <a:latin typeface="Calibri"/>
              </a:rPr>
              <a:t>[ SCREENSHOT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2039112"/>
            <a:ext cx="3529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3A5A80"/>
                </a:solidFill>
                <a:latin typeface="Calibri"/>
              </a:rPr>
              <a:t>📷  Add screenshot 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2999232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alibri"/>
              </a:rPr>
              <a:t>3. Style Selector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4" y="3337560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A8CB8"/>
                </a:solidFill>
                <a:latin typeface="Calibri"/>
              </a:rPr>
              <a:t>8 styles + color palette
+ custom prompt field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959352"/>
            <a:ext cx="3749039" cy="2468880"/>
          </a:xfrm>
          <a:prstGeom prst="rect">
            <a:avLst/>
          </a:prstGeom>
          <a:solidFill>
            <a:srgbClr val="121B38"/>
          </a:solidFill>
          <a:ln w="127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3959352"/>
            <a:ext cx="3749039" cy="64008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" y="4123944"/>
            <a:ext cx="3529584" cy="1508760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4123944"/>
            <a:ext cx="352958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A8CB8"/>
                </a:solidFill>
                <a:latin typeface="Calibri"/>
              </a:rPr>
              <a:t>[ SCREENSHOT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4736592"/>
            <a:ext cx="3529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3A5A80"/>
                </a:solidFill>
                <a:latin typeface="Calibri"/>
              </a:rPr>
              <a:t>📷  Add screenshot here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5696712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76"/>
                </a:solidFill>
                <a:latin typeface="Calibri"/>
              </a:rPr>
              <a:t>4. AI Generation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6035040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A8CB8"/>
                </a:solidFill>
                <a:latin typeface="Calibri"/>
              </a:rPr>
              <a:t>Progress bar
ControlNet processing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3959352"/>
            <a:ext cx="3749039" cy="2468880"/>
          </a:xfrm>
          <a:prstGeom prst="rect">
            <a:avLst/>
          </a:prstGeom>
          <a:solidFill>
            <a:srgbClr val="121B38"/>
          </a:solidFill>
          <a:ln w="1270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70248" y="3959352"/>
            <a:ext cx="3749039" cy="6400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79976" y="4123944"/>
            <a:ext cx="3529584" cy="1508760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79976" y="4123944"/>
            <a:ext cx="352958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A8CB8"/>
                </a:solidFill>
                <a:latin typeface="Calibri"/>
              </a:rPr>
              <a:t>[ SCREENSHOT 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9976" y="4736592"/>
            <a:ext cx="3529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3A5A80"/>
                </a:solidFill>
                <a:latin typeface="Calibri"/>
              </a:rPr>
              <a:t>📷  Add screenshot here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9976" y="5696712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800"/>
                </a:solidFill>
                <a:latin typeface="Calibri"/>
              </a:rPr>
              <a:t>5. Result 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79976" y="6035040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A8CB8"/>
                </a:solidFill>
                <a:latin typeface="Calibri"/>
              </a:rPr>
              <a:t>Compare slider
Before ↔ After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66176" y="3959352"/>
            <a:ext cx="3749039" cy="2468880"/>
          </a:xfrm>
          <a:prstGeom prst="rect">
            <a:avLst/>
          </a:prstGeom>
          <a:solidFill>
            <a:srgbClr val="121B38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66176" y="3959352"/>
            <a:ext cx="3749039" cy="6400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375904" y="4123944"/>
            <a:ext cx="3529584" cy="1508760"/>
          </a:xfrm>
          <a:prstGeom prst="rect">
            <a:avLst/>
          </a:prstGeom>
          <a:solidFill>
            <a:srgbClr val="08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75904" y="4123944"/>
            <a:ext cx="352958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A8CB8"/>
                </a:solidFill>
                <a:latin typeface="Calibri"/>
              </a:rPr>
              <a:t>[ SCREENSHOT 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75904" y="4736592"/>
            <a:ext cx="3529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3A5A80"/>
                </a:solidFill>
                <a:latin typeface="Calibri"/>
              </a:rPr>
              <a:t>📷  Add screenshot here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75904" y="5696712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6D"/>
                </a:solidFill>
                <a:latin typeface="Calibri"/>
              </a:rPr>
              <a:t>6. Object Editor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75904" y="6035040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A8CB8"/>
                </a:solidFill>
                <a:latin typeface="Calibri"/>
              </a:rPr>
              <a:t>YOLOv8 chips + SAM
Furniture replacement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Project Demo — API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Flask Backend REST API — All 7 Endpoints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61872"/>
          <a:ext cx="1164031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8062"/>
                <a:gridCol w="2328062"/>
                <a:gridCol w="2328062"/>
                <a:gridCol w="2328062"/>
                <a:gridCol w="2328062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C800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C800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C800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C800"/>
                          </a:solidFill>
                          <a:latin typeface="Calibri"/>
                        </a:rPr>
                        <a:t>Request Body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C800"/>
                          </a:solidFill>
                          <a:latin typeface="Calibri"/>
                        </a:rPr>
                        <a:t>Response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/health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Backend + Colab status check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{status, colab_connected, mode}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/upload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Upload room image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form-data: image file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{message, path}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/generate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AI style transfer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{style, palette, customPrompt}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{image: base64}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/detect-objects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Find furniture in image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{}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{objects: ['sofa','chair',...]}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/edit-object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Replace single furniture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{object, prompt}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{image: base64}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/preview-styles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Generate all 8 previews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{palette}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{previews: {style: base64}}</a:t>
                      </a:r>
                    </a:p>
                  </a:txBody>
                  <a:tcPr>
                    <a:solidFill>
                      <a:srgbClr val="0E162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/set-colab-url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Register Colab ngrok URL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{url}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0C8E8"/>
                          </a:solidFill>
                          <a:latin typeface="Calibri"/>
                        </a:rPr>
                        <a:t>{message, url}</a:t>
                      </a:r>
                    </a:p>
                  </a:txBody>
                  <a:tcPr>
                    <a:solidFill>
                      <a:srgbClr val="121B3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52578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AI ROUTING LOGIC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623560"/>
            <a:ext cx="11640312" cy="1078992"/>
          </a:xfrm>
          <a:prstGeom prst="rect">
            <a:avLst/>
          </a:prstGeom>
          <a:solidFill>
            <a:srgbClr val="12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669280"/>
            <a:ext cx="11384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1. Request arrives at Flask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925312"/>
            <a:ext cx="11384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E576"/>
                </a:solidFill>
                <a:latin typeface="Calibri"/>
              </a:rPr>
              <a:t>2. Is COLAB_URL registered? → Route to Google Colab (ControlNet + SAM + Inpainting)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181344"/>
            <a:ext cx="11384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B5DF5"/>
                </a:solidFill>
                <a:latin typeface="Calibri"/>
              </a:rPr>
              <a:t>3. Else: Is REPLICATE_TOKEN set? → Use Replicate img2img API as 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37376"/>
            <a:ext cx="11384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4D6D"/>
                </a:solidFill>
                <a:latin typeface="Calibri"/>
              </a:rPr>
              <a:t>4. Else: Return 503 — 'No AI backend connected'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GitHub Repository &amp; Project Links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61872"/>
            <a:ext cx="11640312" cy="658368"/>
          </a:xfrm>
          <a:prstGeom prst="rect">
            <a:avLst/>
          </a:prstGeom>
          <a:solidFill>
            <a:srgbClr val="121B38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800"/>
                </a:solidFill>
                <a:latin typeface="Calibri"/>
              </a:rPr>
              <a:t>🔗  GitHub: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3258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https://github.com/[your-username]/ai-interior-designer-v2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11680"/>
            <a:ext cx="11640312" cy="658368"/>
          </a:xfrm>
          <a:prstGeom prst="rect">
            <a:avLst/>
          </a:prstGeom>
          <a:solidFill>
            <a:srgbClr val="121B38"/>
          </a:solidFill>
          <a:ln w="127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84831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800"/>
                </a:solidFill>
                <a:latin typeface="Calibri"/>
              </a:rPr>
              <a:t>🌐  Live App: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084831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76"/>
                </a:solidFill>
                <a:latin typeface="Calibri"/>
              </a:rPr>
              <a:t>https://ai-interior-designer-v2-m4z5.vercel.app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800"/>
                </a:solidFill>
                <a:latin typeface="Calibri"/>
              </a:rPr>
              <a:t>REPOSITORY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29184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urier New"/>
              </a:rPr>
              <a:t>ai-interior-designer-v2/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5661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  <a:latin typeface="Courier New"/>
              </a:rPr>
              <a:t>  ├── frontend/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84048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  <a:latin typeface="Courier New"/>
              </a:rPr>
              <a:t>  │   └── src/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11480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ourier New"/>
              </a:rPr>
              <a:t>  │       ├── components/   ← All React UI components (10 components)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38912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ourier New"/>
              </a:rPr>
              <a:t>  │       ├── App.js        ← Main app state &amp; routing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66344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ourier New"/>
              </a:rPr>
              <a:t>  │       └── firebase.js   ← Firebase Auth + Firestore 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9377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35"/>
                </a:solidFill>
                <a:latin typeface="Courier New"/>
              </a:rPr>
              <a:t>  ├── backend/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21208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ourier New"/>
              </a:rPr>
              <a:t>  │   ├── app.py            ← All 7 Flask REST endpoints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48640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ourier New"/>
              </a:rPr>
              <a:t>  │   └── AI_Interior_Designer_v2.ipynb  ← Google Colab AI notebook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76072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8CB8"/>
                </a:solidFill>
                <a:latin typeface="Courier New"/>
              </a:rPr>
              <a:t>  ├── README.md             ← Setup guide &amp; feature 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03504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8CB8"/>
                </a:solidFill>
                <a:latin typeface="Courier New"/>
              </a:rPr>
              <a:t>  └── SETUP_GUIDE.md        ← Step-by-step deployment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0080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8CB8"/>
                </a:solidFill>
                <a:latin typeface="Calibri"/>
              </a:rPr>
              <a:t>Branches: main (production)  |  develop (active development)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88952" cy="36576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LIVE APPLICATION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C800"/>
                </a:solidFill>
                <a:latin typeface="Calibri"/>
              </a:rPr>
              <a:t>Sprint 4 — with Audio Narration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2423160"/>
            <a:ext cx="39593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2240280" cy="1261872"/>
          </a:xfrm>
          <a:prstGeom prst="rect">
            <a:avLst/>
          </a:prstGeom>
          <a:solidFill>
            <a:srgbClr val="121B38"/>
          </a:solidFill>
          <a:ln w="889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37560"/>
            <a:ext cx="2057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8E8"/>
                </a:solidFill>
                <a:latin typeface="Calibri"/>
              </a:rPr>
              <a:t>Open live app URL in browser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2928" y="2834640"/>
            <a:ext cx="2240280" cy="1261872"/>
          </a:xfrm>
          <a:prstGeom prst="rect">
            <a:avLst/>
          </a:prstGeom>
          <a:solidFill>
            <a:srgbClr val="121B38"/>
          </a:solidFill>
          <a:ln w="8890">
            <a:solidFill>
              <a:srgbClr val="9B5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2928" y="2834640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5DF5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3337560"/>
            <a:ext cx="2057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8E8"/>
                </a:solidFill>
                <a:latin typeface="Calibri"/>
              </a:rPr>
              <a:t>Log in with Google account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48656" y="2834640"/>
            <a:ext cx="2240280" cy="1261872"/>
          </a:xfrm>
          <a:prstGeom prst="rect">
            <a:avLst/>
          </a:prstGeom>
          <a:solidFill>
            <a:srgbClr val="121B38"/>
          </a:solidFill>
          <a:ln w="889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48656" y="2834640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576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3337560"/>
            <a:ext cx="2057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8E8"/>
                </a:solidFill>
                <a:latin typeface="Calibri"/>
              </a:rPr>
              <a:t>Upload a real room photo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44383" y="2834640"/>
            <a:ext cx="2240280" cy="1261872"/>
          </a:xfrm>
          <a:prstGeom prst="rect">
            <a:avLst/>
          </a:prstGeom>
          <a:solidFill>
            <a:srgbClr val="121B38"/>
          </a:solidFill>
          <a:ln w="889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44383" y="2834640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B35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3" y="3337560"/>
            <a:ext cx="2057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8E8"/>
                </a:solidFill>
                <a:latin typeface="Calibri"/>
              </a:rPr>
              <a:t>Select 'Modern Luxury' style → Generate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40112" y="2834640"/>
            <a:ext cx="2240280" cy="1261872"/>
          </a:xfrm>
          <a:prstGeom prst="rect">
            <a:avLst/>
          </a:prstGeom>
          <a:solidFill>
            <a:srgbClr val="121B38"/>
          </a:solidFill>
          <a:ln w="889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40112" y="2834640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C800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31552" y="3337560"/>
            <a:ext cx="2057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8E8"/>
                </a:solidFill>
                <a:latin typeface="Calibri"/>
              </a:rPr>
              <a:t>Show loading progress bar → Result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51960"/>
            <a:ext cx="2240280" cy="1261872"/>
          </a:xfrm>
          <a:prstGeom prst="rect">
            <a:avLst/>
          </a:prstGeom>
          <a:solidFill>
            <a:srgbClr val="121B38"/>
          </a:solidFill>
          <a:ln w="889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251960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4D6D"/>
                </a:solidFill>
                <a:latin typeface="Calibr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54880"/>
            <a:ext cx="2057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8E8"/>
                </a:solidFill>
                <a:latin typeface="Calibri"/>
              </a:rPr>
              <a:t>Drag compare slider — before/after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4251960"/>
            <a:ext cx="2240280" cy="1261872"/>
          </a:xfrm>
          <a:prstGeom prst="rect">
            <a:avLst/>
          </a:prstGeom>
          <a:solidFill>
            <a:srgbClr val="121B38"/>
          </a:solidFill>
          <a:ln w="889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2928" y="4251960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FF"/>
                </a:solidFill>
                <a:latin typeface="Calibri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44368" y="4754880"/>
            <a:ext cx="2057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8E8"/>
                </a:solidFill>
                <a:latin typeface="Calibri"/>
              </a:rPr>
              <a:t>Edit an object (sofa) → show inpainting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48656" y="4251960"/>
            <a:ext cx="2240280" cy="1261872"/>
          </a:xfrm>
          <a:prstGeom prst="rect">
            <a:avLst/>
          </a:prstGeom>
          <a:solidFill>
            <a:srgbClr val="121B38"/>
          </a:solidFill>
          <a:ln w="8890">
            <a:solidFill>
              <a:srgbClr val="9B5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48656" y="4251960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5DF5"/>
                </a:solidFill>
                <a:latin typeface="Calibri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0096" y="4754880"/>
            <a:ext cx="2057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8E8"/>
                </a:solidFill>
                <a:latin typeface="Calibri"/>
              </a:rPr>
              <a:t>Show Ctrl+Z undo • Ctrl+H history panel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44383" y="4251960"/>
            <a:ext cx="2240280" cy="1261872"/>
          </a:xfrm>
          <a:prstGeom prst="rect">
            <a:avLst/>
          </a:prstGeom>
          <a:solidFill>
            <a:srgbClr val="121B38"/>
          </a:solidFill>
          <a:ln w="889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44383" y="4251960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576"/>
                </a:solidFill>
                <a:latin typeface="Calibri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35823" y="4754880"/>
            <a:ext cx="2057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8E8"/>
                </a:solidFill>
                <a:latin typeface="Calibri"/>
              </a:rPr>
              <a:t>Download with watermark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40112" y="4251960"/>
            <a:ext cx="2240280" cy="1261872"/>
          </a:xfrm>
          <a:prstGeom prst="rect">
            <a:avLst/>
          </a:prstGeom>
          <a:solidFill>
            <a:srgbClr val="121B38"/>
          </a:solidFill>
          <a:ln w="889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40112" y="4251960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B35"/>
                </a:solidFill>
                <a:latin typeface="Calibri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31552" y="4754880"/>
            <a:ext cx="2057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8E8"/>
                </a:solidFill>
                <a:latin typeface="Calibri"/>
              </a:rPr>
              <a:t>Show FurnishRoom feature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922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A8CB8"/>
                </a:solidFill>
                <a:latin typeface="Calibri"/>
              </a:rPr>
              <a:t>🎬  Duration: ~5-7 minutes  |  Audio narration explains WHY ControlNet preserves room structure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